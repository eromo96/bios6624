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719"/>
  </p:normalViewPr>
  <p:slideViewPr>
    <p:cSldViewPr snapToGrid="0">
      <p:cViewPr varScale="1">
        <p:scale>
          <a:sx n="148" d="100"/>
          <a:sy n="148" d="100"/>
        </p:scale>
        <p:origin x="10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F3DF53-1DC2-C64E-95C5-1D3CC74AEFBB}" type="datetimeFigureOut">
              <a:rPr lang="en-US" smtClean="0"/>
              <a:t>3/1/26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077980-90C7-C944-A3CC-A636C2BA73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470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77980-90C7-C944-A3CC-A636C2BA73B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3308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316209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86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540900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995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146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339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714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0762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01181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42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3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119710FB-26FB-9447-A32F-7B7ABBB64985}" type="datetimeFigureOut">
              <a:rPr lang="en-US" smtClean="0"/>
              <a:t>3/1/26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39744C68-C9A6-9B40-9710-AF85B273C1CA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54705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C62EE-FCAB-AB95-9436-BD51A42F8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5400" dirty="0"/>
              <a:t>Effect of baseline hard drug use on </a:t>
            </a:r>
            <a:r>
              <a:rPr lang="en-US" sz="5400" dirty="0" err="1"/>
              <a:t>haart</a:t>
            </a:r>
            <a:r>
              <a:rPr lang="en-US" sz="5400" dirty="0"/>
              <a:t> treatment response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508731-1BD9-5B73-FEAF-5E380F8998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Eduardo Romo</a:t>
            </a:r>
          </a:p>
          <a:p>
            <a:r>
              <a:rPr lang="en-US" dirty="0"/>
              <a:t>BIOS 6624</a:t>
            </a:r>
          </a:p>
          <a:p>
            <a:r>
              <a:rPr lang="en-US" dirty="0"/>
              <a:t>March 2, 2026</a:t>
            </a:r>
          </a:p>
        </p:txBody>
      </p:sp>
    </p:spTree>
    <p:extLst>
      <p:ext uri="{BB962C8B-B14F-4D97-AF65-F5344CB8AC3E}">
        <p14:creationId xmlns:p14="http://schemas.microsoft.com/office/powerpoint/2010/main" val="831766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0634F-D805-33E9-328E-ADD420112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 &amp; Statistical 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530ED-7CCD-8F79-F1BC-24FB30DA1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Does baseline hard drug use affect treatment response 2 years after HAART initiation?</a:t>
            </a:r>
          </a:p>
          <a:p>
            <a:r>
              <a:rPr lang="en-US" dirty="0"/>
              <a:t>Four outcomes:</a:t>
            </a:r>
          </a:p>
          <a:p>
            <a:pPr lvl="1"/>
            <a:r>
              <a:rPr lang="en-US" dirty="0"/>
              <a:t>Mental QoL change</a:t>
            </a:r>
          </a:p>
          <a:p>
            <a:pPr lvl="1"/>
            <a:r>
              <a:rPr lang="en-US" dirty="0"/>
              <a:t>Physical QoL change</a:t>
            </a:r>
          </a:p>
          <a:p>
            <a:pPr lvl="1"/>
            <a:r>
              <a:rPr lang="en-US" dirty="0"/>
              <a:t>CD4+ T-cell change</a:t>
            </a:r>
          </a:p>
          <a:p>
            <a:pPr lvl="1"/>
            <a:r>
              <a:rPr lang="en-US" dirty="0"/>
              <a:t>Log viral load ratio</a:t>
            </a:r>
          </a:p>
          <a:p>
            <a:r>
              <a:rPr lang="en-US" dirty="0"/>
              <a:t>Primary Exposure: baseline hard drug use</a:t>
            </a:r>
          </a:p>
          <a:p>
            <a:r>
              <a:rPr lang="en-US" dirty="0"/>
              <a:t>Adjusted for age, BMI, smoking, education, race/ethnicity</a:t>
            </a:r>
          </a:p>
          <a:p>
            <a:r>
              <a:rPr lang="en-US" dirty="0"/>
              <a:t>Statistical hypotheses:</a:t>
            </a:r>
          </a:p>
          <a:p>
            <a:pPr lvl="1"/>
            <a:r>
              <a:rPr lang="en-US" dirty="0"/>
              <a:t>H</a:t>
            </a:r>
            <a:r>
              <a:rPr lang="en-US" baseline="-25000" dirty="0"/>
              <a:t>0 </a:t>
            </a:r>
            <a:r>
              <a:rPr lang="en-US" dirty="0"/>
              <a:t>: Mean treatment response is equal between groups</a:t>
            </a:r>
          </a:p>
          <a:p>
            <a:pPr lvl="1"/>
            <a:r>
              <a:rPr lang="en-US" dirty="0"/>
              <a:t>H</a:t>
            </a:r>
            <a:r>
              <a:rPr lang="en-US" baseline="-25000" dirty="0"/>
              <a:t>1</a:t>
            </a:r>
            <a:r>
              <a:rPr lang="en-US" dirty="0"/>
              <a:t> : Mean treatment response differs</a:t>
            </a:r>
          </a:p>
        </p:txBody>
      </p:sp>
    </p:spTree>
    <p:extLst>
      <p:ext uri="{BB962C8B-B14F-4D97-AF65-F5344CB8AC3E}">
        <p14:creationId xmlns:p14="http://schemas.microsoft.com/office/powerpoint/2010/main" val="135755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15581-F212-0437-CD31-D92424B8E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321DB-142C-F111-FABF-85A47F5102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Source: Multicenter AIDS Cohort Study</a:t>
            </a:r>
          </a:p>
          <a:p>
            <a:r>
              <a:rPr lang="en-US" dirty="0"/>
              <a:t>Final analysis sample: 476 subjs</a:t>
            </a:r>
          </a:p>
          <a:p>
            <a:r>
              <a:rPr lang="en-US" dirty="0"/>
              <a:t>Collapsed categorical vars:</a:t>
            </a:r>
          </a:p>
          <a:p>
            <a:pPr lvl="1"/>
            <a:r>
              <a:rPr lang="en-US" dirty="0"/>
              <a:t>Race -&gt; White vs Other</a:t>
            </a:r>
          </a:p>
          <a:p>
            <a:pPr lvl="1"/>
            <a:r>
              <a:rPr lang="en-US" dirty="0"/>
              <a:t>Smoking -&gt; Current vs Not</a:t>
            </a:r>
          </a:p>
          <a:p>
            <a:pPr lvl="1"/>
            <a:r>
              <a:rPr lang="en-US" dirty="0"/>
              <a:t>Education -&gt; College vs No college</a:t>
            </a:r>
          </a:p>
          <a:p>
            <a:r>
              <a:rPr lang="en-US" dirty="0"/>
              <a:t>Implausible BMI values set to NA (≤0 or ≥250)</a:t>
            </a:r>
          </a:p>
          <a:p>
            <a:r>
              <a:rPr lang="en-US" dirty="0"/>
              <a:t>8.2% reported hard drug use</a:t>
            </a:r>
          </a:p>
          <a:p>
            <a:r>
              <a:rPr lang="en-US" dirty="0"/>
              <a:t>Hard drug users: </a:t>
            </a:r>
          </a:p>
          <a:p>
            <a:pPr lvl="1"/>
            <a:r>
              <a:rPr lang="en-US" dirty="0"/>
              <a:t>More likely current smokers</a:t>
            </a:r>
          </a:p>
          <a:p>
            <a:pPr lvl="1"/>
            <a:r>
              <a:rPr lang="en-US" dirty="0"/>
              <a:t>Less likely college educated</a:t>
            </a:r>
          </a:p>
          <a:p>
            <a:endParaRPr lang="en-US" dirty="0"/>
          </a:p>
        </p:txBody>
      </p:sp>
      <p:pic>
        <p:nvPicPr>
          <p:cNvPr id="6" name="Content Placeholder 5" descr="A paper with text and numbers&#10;&#10;AI-generated content may be incorrect.">
            <a:extLst>
              <a:ext uri="{FF2B5EF4-FFF2-40B4-BE49-F238E27FC236}">
                <a16:creationId xmlns:a16="http://schemas.microsoft.com/office/drawing/2014/main" id="{ADDD61C2-52E2-24C9-1A81-B35C0762C6F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853381" y="615374"/>
            <a:ext cx="4802909" cy="5771826"/>
          </a:xfrm>
        </p:spPr>
      </p:pic>
    </p:spTree>
    <p:extLst>
      <p:ext uri="{BB962C8B-B14F-4D97-AF65-F5344CB8AC3E}">
        <p14:creationId xmlns:p14="http://schemas.microsoft.com/office/powerpoint/2010/main" val="2504089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8EF51-D8E6-FAA1-8847-1E166A340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E3FEE-988C-98A6-6D5F-C3F8FD10F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Models</a:t>
            </a:r>
          </a:p>
          <a:p>
            <a:pPr lvl="1"/>
            <a:r>
              <a:rPr lang="en-US" dirty="0"/>
              <a:t>Linear regression for each outcome</a:t>
            </a:r>
          </a:p>
          <a:p>
            <a:pPr lvl="1"/>
            <a:r>
              <a:rPr lang="en-US" dirty="0"/>
              <a:t>Bayesian models (primary)</a:t>
            </a:r>
          </a:p>
          <a:p>
            <a:pPr lvl="1"/>
            <a:r>
              <a:rPr lang="en-US" dirty="0"/>
              <a:t>Frequentist models (validation)</a:t>
            </a:r>
          </a:p>
          <a:p>
            <a:r>
              <a:rPr lang="en-US" dirty="0"/>
              <a:t>Adjustment covariates: baseline outcome value, age, BMI, smoking status, education, and race/ethnicity</a:t>
            </a:r>
          </a:p>
          <a:p>
            <a:r>
              <a:rPr lang="en-US" dirty="0"/>
              <a:t>Secondary analysis</a:t>
            </a:r>
          </a:p>
          <a:p>
            <a:pPr lvl="1"/>
            <a:r>
              <a:rPr lang="en-US" dirty="0"/>
              <a:t>Added 2 year adherence to assess mediation between hard drug use and treatment response</a:t>
            </a:r>
          </a:p>
          <a:p>
            <a:r>
              <a:rPr lang="en-US" dirty="0"/>
              <a:t>Inference</a:t>
            </a:r>
          </a:p>
          <a:p>
            <a:pPr lvl="1"/>
            <a:r>
              <a:rPr lang="en-US" dirty="0"/>
              <a:t>Point estimate + 95% intervals</a:t>
            </a:r>
          </a:p>
          <a:p>
            <a:pPr lvl="1"/>
            <a:r>
              <a:rPr lang="en-US" dirty="0"/>
              <a:t>Bayesian posterior probabilities of clinically meaningful effects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4130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25FAE78-9C90-87C1-620A-61438A7AD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Results: Hard Drug Use &amp; Treatment Response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1346352-18DC-9227-8FA0-153AE2CBB1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Little evidence for mental QoL or viral load effects</a:t>
            </a:r>
          </a:p>
          <a:p>
            <a:r>
              <a:rPr lang="en-US" dirty="0"/>
              <a:t>Hard drug use associated with:</a:t>
            </a:r>
          </a:p>
          <a:p>
            <a:pPr lvl="1"/>
            <a:r>
              <a:rPr lang="en-US" dirty="0"/>
              <a:t>↓ Physical QoL improvement</a:t>
            </a:r>
          </a:p>
          <a:p>
            <a:pPr lvl="1"/>
            <a:r>
              <a:rPr lang="en-US" dirty="0"/>
              <a:t>↓ CD4+ recovery</a:t>
            </a:r>
          </a:p>
          <a:p>
            <a:r>
              <a:rPr lang="en-US" dirty="0"/>
              <a:t>Bayesian and frequentist results consistent</a:t>
            </a:r>
          </a:p>
        </p:txBody>
      </p:sp>
      <p:pic>
        <p:nvPicPr>
          <p:cNvPr id="12" name="Content Placeholder 11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C14D6CE7-ABEC-882B-880C-14EC06D546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22206" y="4686301"/>
            <a:ext cx="6178650" cy="1425841"/>
          </a:xfrm>
        </p:spPr>
      </p:pic>
      <p:pic>
        <p:nvPicPr>
          <p:cNvPr id="14" name="Picture 13" descr="A group of graphs showing different levels of blood&#10;&#10;AI-generated content may be incorrect.">
            <a:extLst>
              <a:ext uri="{FF2B5EF4-FFF2-40B4-BE49-F238E27FC236}">
                <a16:creationId xmlns:a16="http://schemas.microsoft.com/office/drawing/2014/main" id="{ED228834-0DEE-D6ED-316B-BBB51F681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278" y="1517073"/>
            <a:ext cx="4198505" cy="2697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503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836B3-DF5F-7160-342B-73F4450F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Analysis: Adjustment for Adherence (naïve mediation)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D7C32-3A79-F812-02E1-1A5AEEE6FF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Goal: assess how hard drug coefficient changes after adjusting for adherence</a:t>
            </a:r>
          </a:p>
          <a:p>
            <a:r>
              <a:rPr lang="en-US" dirty="0"/>
              <a:t>Estimates changed minimally across outcomes</a:t>
            </a:r>
          </a:p>
          <a:p>
            <a:r>
              <a:rPr lang="en-US" dirty="0"/>
              <a:t>Suggests adherence does not strongly explain observed associations</a:t>
            </a:r>
          </a:p>
          <a:p>
            <a:r>
              <a:rPr lang="en-US" dirty="0"/>
              <a:t>Exploratory analysis, not a formal mediation analysis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50A6E7-1D87-93E8-3FE5-3F2929F7AC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60515" y="3429000"/>
            <a:ext cx="6331485" cy="1353128"/>
          </a:xfrm>
        </p:spPr>
      </p:pic>
    </p:spTree>
    <p:extLst>
      <p:ext uri="{BB962C8B-B14F-4D97-AF65-F5344CB8AC3E}">
        <p14:creationId xmlns:p14="http://schemas.microsoft.com/office/powerpoint/2010/main" val="3700899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D4A7D-DE93-49A4-4B8F-E616BA91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D2CE2-F74D-8AFF-BA00-7238D866E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Baseline hard drug use associated with:</a:t>
            </a:r>
          </a:p>
          <a:p>
            <a:pPr lvl="1"/>
            <a:r>
              <a:rPr lang="en-US" dirty="0"/>
              <a:t>Worse physical QoL improvement</a:t>
            </a:r>
          </a:p>
          <a:p>
            <a:pPr lvl="1"/>
            <a:r>
              <a:rPr lang="en-US" dirty="0"/>
              <a:t>Poorer CD4+ recovery</a:t>
            </a:r>
          </a:p>
          <a:p>
            <a:r>
              <a:rPr lang="en-US" dirty="0"/>
              <a:t>Little evidence for mental QoL or viral load effects</a:t>
            </a:r>
          </a:p>
          <a:p>
            <a:r>
              <a:rPr lang="en-US" dirty="0"/>
              <a:t>Adherence did not substantially explain associations</a:t>
            </a:r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Complete case analysis</a:t>
            </a:r>
          </a:p>
          <a:p>
            <a:pPr lvl="1"/>
            <a:r>
              <a:rPr lang="en-US" dirty="0"/>
              <a:t>Collapsed covariates</a:t>
            </a:r>
          </a:p>
          <a:p>
            <a:pPr lvl="1"/>
            <a:r>
              <a:rPr lang="en-US" dirty="0"/>
              <a:t>Naïve mediation approach (not </a:t>
            </a:r>
            <a:r>
              <a:rPr lang="en-US"/>
              <a:t>causal mediation)</a:t>
            </a:r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705442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42</TotalTime>
  <Words>353</Words>
  <Application>Microsoft Macintosh PowerPoint</Application>
  <PresentationFormat>Widescreen</PresentationFormat>
  <Paragraphs>61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Franklin Gothic Book</vt:lpstr>
      <vt:lpstr>Crop</vt:lpstr>
      <vt:lpstr>Effect of baseline hard drug use on haart treatment response</vt:lpstr>
      <vt:lpstr>Research Question &amp; Statistical Hypotheses</vt:lpstr>
      <vt:lpstr>Data Overview</vt:lpstr>
      <vt:lpstr>Statistical Analysis</vt:lpstr>
      <vt:lpstr>Main Results: Hard Drug Use &amp; Treatment Response</vt:lpstr>
      <vt:lpstr>Secondary Analysis: Adjustment for Adherence (naïve mediation)</vt:lpstr>
      <vt:lpstr>Discussion &amp; 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Romo, Eduardo</dc:creator>
  <cp:lastModifiedBy>Romo, Eduardo</cp:lastModifiedBy>
  <cp:revision>1</cp:revision>
  <dcterms:created xsi:type="dcterms:W3CDTF">2026-03-02T02:28:50Z</dcterms:created>
  <dcterms:modified xsi:type="dcterms:W3CDTF">2026-03-02T03:11:20Z</dcterms:modified>
</cp:coreProperties>
</file>