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73926"/>
  </p:normalViewPr>
  <p:slideViewPr>
    <p:cSldViewPr snapToGrid="0">
      <p:cViewPr varScale="1">
        <p:scale>
          <a:sx n="81" d="100"/>
          <a:sy n="81" d="100"/>
        </p:scale>
        <p:origin x="18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F3DF53-1DC2-C64E-95C5-1D3CC74AEFBB}"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077980-90C7-C944-A3CC-A636C2BA73BE}" type="slidenum">
              <a:rPr lang="en-US" smtClean="0"/>
              <a:t>‹#›</a:t>
            </a:fld>
            <a:endParaRPr lang="en-US"/>
          </a:p>
        </p:txBody>
      </p:sp>
    </p:spTree>
    <p:extLst>
      <p:ext uri="{BB962C8B-B14F-4D97-AF65-F5344CB8AC3E}">
        <p14:creationId xmlns:p14="http://schemas.microsoft.com/office/powerpoint/2010/main" val="3844470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I’ll be presenting my final analysis examining whether baseline hard drug use is associated with treatment response two years after initiating HAART therapy in HIV patients.</a:t>
            </a:r>
          </a:p>
          <a:p>
            <a:r>
              <a:rPr lang="en-US" dirty="0"/>
              <a:t>I’ll walk through the research question, data, analysis approach, key results, and then finish with the main conclusions and limitations.</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1</a:t>
            </a:fld>
            <a:endParaRPr lang="en-US"/>
          </a:p>
        </p:txBody>
      </p:sp>
    </p:spTree>
    <p:extLst>
      <p:ext uri="{BB962C8B-B14F-4D97-AF65-F5344CB8AC3E}">
        <p14:creationId xmlns:p14="http://schemas.microsoft.com/office/powerpoint/2010/main" val="3023208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goal of this analysis was to evaluate whether reporting hard drug use at baseline is associated with poorer treatment response two years after initiating HAART.</a:t>
            </a:r>
          </a:p>
          <a:p>
            <a:r>
              <a:rPr lang="en-US" dirty="0"/>
              <a:t>Treatment response was measured using four outcomes that capture different aspects of health:</a:t>
            </a:r>
          </a:p>
          <a:p>
            <a:r>
              <a:rPr lang="en-US" dirty="0"/>
              <a:t>change in mental quality of life,</a:t>
            </a:r>
          </a:p>
          <a:p>
            <a:r>
              <a:rPr lang="en-US" dirty="0"/>
              <a:t>change in physical quality of life,</a:t>
            </a:r>
          </a:p>
          <a:p>
            <a:r>
              <a:rPr lang="en-US" dirty="0"/>
              <a:t>change in CD4+ T-cell count, which reflects immune recovery,</a:t>
            </a:r>
          </a:p>
          <a:p>
            <a:r>
              <a:rPr lang="en-US" dirty="0"/>
              <a:t>and change in viral load measured as a log ratio.</a:t>
            </a:r>
          </a:p>
          <a:p>
            <a:r>
              <a:rPr lang="en-US" dirty="0"/>
              <a:t>The primary exposure was baseline hard drug use, coded as yes versus no.</a:t>
            </a:r>
          </a:p>
          <a:p>
            <a:r>
              <a:rPr lang="en-US" dirty="0"/>
              <a:t>In all analyses, I adjusted for potential confounders including age, BMI, smoking status, education, and race or ethnicity.</a:t>
            </a:r>
          </a:p>
          <a:p>
            <a:r>
              <a:rPr lang="en-US" dirty="0"/>
              <a:t>Statistically, the hypothesis tested for each outcome was whether the mean treatment response differed between participants who reported hard drug use and those who did not.</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2</a:t>
            </a:fld>
            <a:endParaRPr lang="en-US"/>
          </a:p>
        </p:txBody>
      </p:sp>
    </p:spTree>
    <p:extLst>
      <p:ext uri="{BB962C8B-B14F-4D97-AF65-F5344CB8AC3E}">
        <p14:creationId xmlns:p14="http://schemas.microsoft.com/office/powerpoint/2010/main" val="1065793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 from the Multicenter AIDS Cohort Study, which follows HIV-infected men longitudinally after HAART initiation.</a:t>
            </a:r>
          </a:p>
          <a:p>
            <a:r>
              <a:rPr lang="en-US" dirty="0"/>
              <a:t>The original dataset contained 715 participants.</a:t>
            </a:r>
            <a:br>
              <a:rPr lang="en-US" dirty="0"/>
            </a:br>
            <a:r>
              <a:rPr lang="en-US" dirty="0"/>
              <a:t>For this analysis, I focused specifically on baseline and two-year follow-up measurements because the goal was to evaluate short-term treatment response.</a:t>
            </a:r>
          </a:p>
          <a:p>
            <a:r>
              <a:rPr lang="en-US" dirty="0"/>
              <a:t>After restructuring the data and restricting to complete cases, the final analytic sample included 476 participants.</a:t>
            </a:r>
          </a:p>
          <a:p>
            <a:r>
              <a:rPr lang="en-US" dirty="0"/>
              <a:t>Several variables were recoded to improve interpretability and avoid sparse categories — for example, race and education were collapsed into binary groups.</a:t>
            </a:r>
          </a:p>
          <a:p>
            <a:r>
              <a:rPr lang="en-US" dirty="0"/>
              <a:t>BMI values outside plausible physiological ranges were coded as missing.</a:t>
            </a:r>
          </a:p>
          <a:p>
            <a:r>
              <a:rPr lang="en-US" dirty="0"/>
              <a:t>Outcomes were defined as change from baseline to year two.</a:t>
            </a:r>
          </a:p>
          <a:p>
            <a:r>
              <a:rPr lang="en-US" dirty="0"/>
              <a:t>A complete-case approach was used, assuming missingness was at random conditional on observed covariates.</a:t>
            </a:r>
          </a:p>
          <a:p>
            <a:r>
              <a:rPr lang="en-US" dirty="0"/>
              <a:t>I performed a brief exploration of missingness by stratifying proportion of missing for each outcome by hard drug use. I found that hard drug users had higher proportions of missingness.</a:t>
            </a:r>
          </a:p>
        </p:txBody>
      </p:sp>
      <p:sp>
        <p:nvSpPr>
          <p:cNvPr id="4" name="Slide Number Placeholder 3"/>
          <p:cNvSpPr>
            <a:spLocks noGrp="1"/>
          </p:cNvSpPr>
          <p:nvPr>
            <p:ph type="sldNum" sz="quarter" idx="5"/>
          </p:nvPr>
        </p:nvSpPr>
        <p:spPr/>
        <p:txBody>
          <a:bodyPr/>
          <a:lstStyle/>
          <a:p>
            <a:fld id="{D7077980-90C7-C944-A3CC-A636C2BA73BE}" type="slidenum">
              <a:rPr lang="en-US" smtClean="0"/>
              <a:t>3</a:t>
            </a:fld>
            <a:endParaRPr lang="en-US"/>
          </a:p>
        </p:txBody>
      </p:sp>
    </p:spTree>
    <p:extLst>
      <p:ext uri="{BB962C8B-B14F-4D97-AF65-F5344CB8AC3E}">
        <p14:creationId xmlns:p14="http://schemas.microsoft.com/office/powerpoint/2010/main" val="600634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outcome, I fit linear regression models using both Bayesian and frequentist approaches.</a:t>
            </a:r>
          </a:p>
          <a:p>
            <a:r>
              <a:rPr lang="en-US" dirty="0"/>
              <a:t>The Bayesian models were considered primary, while frequentist models were used mainly to verify consistency of results.</a:t>
            </a:r>
          </a:p>
          <a:p>
            <a:r>
              <a:rPr lang="en-US" dirty="0"/>
              <a:t>Each model included the baseline value of the outcome along with demographic and clinical covariates shown here.</a:t>
            </a:r>
          </a:p>
          <a:p>
            <a:r>
              <a:rPr lang="en-US" dirty="0"/>
              <a:t>I also performed a secondary analysis where adherence at year two was added to the model.</a:t>
            </a:r>
            <a:br>
              <a:rPr lang="en-US" dirty="0"/>
            </a:br>
            <a:r>
              <a:rPr lang="en-US" dirty="0"/>
              <a:t>This was intended as a naive mediation analysis to see whether adherence might explain part of the association between hard drug use and treatment response.</a:t>
            </a:r>
          </a:p>
          <a:p>
            <a:r>
              <a:rPr lang="en-US" dirty="0"/>
              <a:t>Inference focused on estimated effects and 95% uncertainty intervals, along with posterior probabilities of clinically meaningful effects in the Bayesian framework.</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4</a:t>
            </a:fld>
            <a:endParaRPr lang="en-US"/>
          </a:p>
        </p:txBody>
      </p:sp>
    </p:spTree>
    <p:extLst>
      <p:ext uri="{BB962C8B-B14F-4D97-AF65-F5344CB8AC3E}">
        <p14:creationId xmlns:p14="http://schemas.microsoft.com/office/powerpoint/2010/main" val="1066330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main regression results, focusing only on the hard drug use coefficient since that directly addresses the research question.</a:t>
            </a:r>
          </a:p>
          <a:p>
            <a:r>
              <a:rPr lang="en-US" dirty="0"/>
              <a:t>Starting with mental quality of life, the estimated effect was close to zero and the uncertainty interval crossed zero, suggesting little evidence of an association.</a:t>
            </a:r>
          </a:p>
          <a:p>
            <a:r>
              <a:rPr lang="en-US" dirty="0"/>
              <a:t>For physical quality of life, however, hard drug use was associated with poorer improvement over time. The estimated difference was negative and the interval excluded zero, indicating moderate evidence of an effect.</a:t>
            </a:r>
          </a:p>
          <a:p>
            <a:r>
              <a:rPr lang="en-US" dirty="0"/>
              <a:t>The strongest result was for CD4+ T-cell count. Participants reporting hard drug use showed substantially poorer immunologic recovery, with a large negative estimated effect and strong statistical evidence.</a:t>
            </a:r>
          </a:p>
          <a:p>
            <a:r>
              <a:rPr lang="en-US" dirty="0"/>
              <a:t>For viral load change, the estimate was again near zero with wide uncertainty, suggesting little evidence of an association.</a:t>
            </a:r>
          </a:p>
          <a:p>
            <a:r>
              <a:rPr lang="en-US" dirty="0"/>
              <a:t>Importantly, Bayesian and frequentist estimates were highly consistent across outcomes, which increases confidence that the results are driven by the data rather than modeling choices.</a:t>
            </a:r>
          </a:p>
          <a:p>
            <a:r>
              <a:rPr lang="en-US" dirty="0"/>
              <a:t>Overall, the strongest evidence suggests that hard drug use is associated with worse physical quality of life improvement and poorer immune recovery.</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5</a:t>
            </a:fld>
            <a:endParaRPr lang="en-US"/>
          </a:p>
        </p:txBody>
      </p:sp>
    </p:spTree>
    <p:extLst>
      <p:ext uri="{BB962C8B-B14F-4D97-AF65-F5344CB8AC3E}">
        <p14:creationId xmlns:p14="http://schemas.microsoft.com/office/powerpoint/2010/main" val="2094764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results from the secondary analysis where adherence at year two was added to the models.</a:t>
            </a:r>
          </a:p>
          <a:p>
            <a:r>
              <a:rPr lang="en-US" dirty="0"/>
              <a:t>The goal here was not formal mediation, but rather to examine whether the hard drug use coefficient changed meaningfully after accounting for adherence.</a:t>
            </a:r>
          </a:p>
          <a:p>
            <a:r>
              <a:rPr lang="en-US" dirty="0"/>
              <a:t>If adherence were a strong mediator, we would expect the hard drug use effect to shrink substantially after adjustment.</a:t>
            </a:r>
          </a:p>
          <a:p>
            <a:r>
              <a:rPr lang="en-US" dirty="0"/>
              <a:t>Instead, the estimates changed very little across outcomes.</a:t>
            </a:r>
          </a:p>
          <a:p>
            <a:r>
              <a:rPr lang="en-US" dirty="0"/>
              <a:t>For mental and physical quality of life, the coefficients were nearly unchanged.</a:t>
            </a:r>
          </a:p>
          <a:p>
            <a:r>
              <a:rPr lang="en-US" dirty="0"/>
              <a:t>For CD4+ count, the effect actually became slightly larger in magnitude.</a:t>
            </a:r>
          </a:p>
          <a:p>
            <a:r>
              <a:rPr lang="en-US" dirty="0"/>
              <a:t>And for viral load, the estimate moved slightly closer to zero, but remained very small and uncertain.</a:t>
            </a:r>
          </a:p>
          <a:p>
            <a:r>
              <a:rPr lang="en-US" dirty="0"/>
              <a:t>Overall, this suggests that adherence does not strongly explain the relationship between baseline hard drug use and treatment response — at least within this exploratory framework.</a:t>
            </a:r>
          </a:p>
          <a:p>
            <a:r>
              <a:rPr lang="en-US" dirty="0"/>
              <a:t>I want to emphasize that this was a naive mediation analysis and does not estimate causal mediation effects.</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6</a:t>
            </a:fld>
            <a:endParaRPr lang="en-US"/>
          </a:p>
        </p:txBody>
      </p:sp>
    </p:spTree>
    <p:extLst>
      <p:ext uri="{BB962C8B-B14F-4D97-AF65-F5344CB8AC3E}">
        <p14:creationId xmlns:p14="http://schemas.microsoft.com/office/powerpoint/2010/main" val="881306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analysis found that baseline hard drug use was associated with poorer treatment response for two key outcomes: physical quality of life improvement and CD4+ immune recovery.</a:t>
            </a:r>
          </a:p>
          <a:p>
            <a:r>
              <a:rPr lang="en-US" dirty="0"/>
              <a:t>In contrast, there was little evidence for associations with mental quality of life or viral load change.</a:t>
            </a:r>
          </a:p>
          <a:p>
            <a:r>
              <a:rPr lang="en-US" dirty="0"/>
              <a:t>The secondary analysis suggested that treatment adherence did not substantially explain these associations.</a:t>
            </a:r>
          </a:p>
          <a:p>
            <a:r>
              <a:rPr lang="en-US" dirty="0"/>
              <a:t>There are several limitations to consider.</a:t>
            </a:r>
          </a:p>
          <a:p>
            <a:r>
              <a:rPr lang="en-US" dirty="0"/>
              <a:t>First, this was a complete-case analysis, which may introduce bias if missingness depended on unobserved factors.</a:t>
            </a:r>
          </a:p>
          <a:p>
            <a:r>
              <a:rPr lang="en-US" dirty="0"/>
              <a:t>Second, some variables were collapsed into binary categories, which may reduce sensitivity to more nuanced effects.</a:t>
            </a:r>
          </a:p>
          <a:p>
            <a:r>
              <a:rPr lang="en-US" dirty="0"/>
              <a:t>Third, the mediation analysis was exploratory and not a formal causal mediation framework.</a:t>
            </a:r>
          </a:p>
          <a:p>
            <a:r>
              <a:rPr lang="en-US" dirty="0"/>
              <a:t>Overall, these results suggest that baseline hard drug use may be an important predictor of poorer physical and immunologic response after HAART initiation, and future work could extend this using longitudinal modeling and more formal mediation methods.</a:t>
            </a:r>
          </a:p>
          <a:p>
            <a:r>
              <a:rPr lang="en-US" dirty="0"/>
              <a:t>Thank you — I’m happy to take any questions.</a:t>
            </a:r>
          </a:p>
          <a:p>
            <a:endParaRPr lang="en-US" dirty="0"/>
          </a:p>
        </p:txBody>
      </p:sp>
      <p:sp>
        <p:nvSpPr>
          <p:cNvPr id="4" name="Slide Number Placeholder 3"/>
          <p:cNvSpPr>
            <a:spLocks noGrp="1"/>
          </p:cNvSpPr>
          <p:nvPr>
            <p:ph type="sldNum" sz="quarter" idx="5"/>
          </p:nvPr>
        </p:nvSpPr>
        <p:spPr/>
        <p:txBody>
          <a:bodyPr/>
          <a:lstStyle/>
          <a:p>
            <a:fld id="{D7077980-90C7-C944-A3CC-A636C2BA73BE}" type="slidenum">
              <a:rPr lang="en-US" smtClean="0"/>
              <a:t>7</a:t>
            </a:fld>
            <a:endParaRPr lang="en-US"/>
          </a:p>
        </p:txBody>
      </p:sp>
    </p:spTree>
    <p:extLst>
      <p:ext uri="{BB962C8B-B14F-4D97-AF65-F5344CB8AC3E}">
        <p14:creationId xmlns:p14="http://schemas.microsoft.com/office/powerpoint/2010/main" val="4233755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119710FB-26FB-9447-A32F-7B7ABBB64985}" type="datetimeFigureOut">
              <a:rPr lang="en-US" smtClean="0"/>
              <a:t>3/2/26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9744C68-C9A6-9B40-9710-AF85B273C1CA}"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23162099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710FB-26FB-9447-A32F-7B7ABBB64985}"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1901864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19710FB-26FB-9447-A32F-7B7ABBB64985}" type="datetimeFigureOut">
              <a:rPr lang="en-US" smtClean="0"/>
              <a:t>3/2/26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9744C68-C9A6-9B40-9710-AF85B273C1CA}"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540900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9710FB-26FB-9447-A32F-7B7ABBB64985}"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488995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9710FB-26FB-9447-A32F-7B7ABBB64985}" type="datetimeFigureOut">
              <a:rPr lang="en-US" smtClean="0"/>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2113146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9710FB-26FB-9447-A32F-7B7ABBB64985}" type="datetimeFigureOut">
              <a:rPr lang="en-US" smtClean="0"/>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3444339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9710FB-26FB-9447-A32F-7B7ABBB64985}" type="datetimeFigureOut">
              <a:rPr lang="en-US" smtClean="0"/>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2080714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19710FB-26FB-9447-A32F-7B7ABBB64985}" type="datetimeFigureOut">
              <a:rPr lang="en-US" smtClean="0"/>
              <a:t>3/2/26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9744C68-C9A6-9B40-9710-AF85B273C1CA}"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0762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19710FB-26FB-9447-A32F-7B7ABBB64985}" type="datetimeFigureOut">
              <a:rPr lang="en-US" smtClean="0"/>
              <a:t>3/2/26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9744C68-C9A6-9B40-9710-AF85B273C1CA}"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0118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710FB-26FB-9447-A32F-7B7ABBB64985}"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779423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710FB-26FB-9447-A32F-7B7ABBB64985}"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744C68-C9A6-9B40-9710-AF85B273C1CA}" type="slidenum">
              <a:rPr lang="en-US" smtClean="0"/>
              <a:t>‹#›</a:t>
            </a:fld>
            <a:endParaRPr lang="en-US"/>
          </a:p>
        </p:txBody>
      </p:sp>
    </p:spTree>
    <p:extLst>
      <p:ext uri="{BB962C8B-B14F-4D97-AF65-F5344CB8AC3E}">
        <p14:creationId xmlns:p14="http://schemas.microsoft.com/office/powerpoint/2010/main" val="351773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119710FB-26FB-9447-A32F-7B7ABBB64985}" type="datetimeFigureOut">
              <a:rPr lang="en-US" smtClean="0"/>
              <a:t>3/2/26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9744C68-C9A6-9B40-9710-AF85B273C1CA}"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547055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62EE-FCAB-AB95-9436-BD51A42F8975}"/>
              </a:ext>
            </a:extLst>
          </p:cNvPr>
          <p:cNvSpPr>
            <a:spLocks noGrp="1"/>
          </p:cNvSpPr>
          <p:nvPr>
            <p:ph type="ctrTitle"/>
          </p:nvPr>
        </p:nvSpPr>
        <p:spPr/>
        <p:txBody>
          <a:bodyPr/>
          <a:lstStyle/>
          <a:p>
            <a:r>
              <a:rPr lang="en-US" sz="5400" dirty="0"/>
              <a:t>Effect of baseline hard drug use on </a:t>
            </a:r>
            <a:r>
              <a:rPr lang="en-US" sz="5400" dirty="0" err="1"/>
              <a:t>haart</a:t>
            </a:r>
            <a:r>
              <a:rPr lang="en-US" sz="5400" dirty="0"/>
              <a:t> treatment response</a:t>
            </a:r>
          </a:p>
        </p:txBody>
      </p:sp>
      <p:sp>
        <p:nvSpPr>
          <p:cNvPr id="3" name="Subtitle 2">
            <a:extLst>
              <a:ext uri="{FF2B5EF4-FFF2-40B4-BE49-F238E27FC236}">
                <a16:creationId xmlns:a16="http://schemas.microsoft.com/office/drawing/2014/main" id="{1E508731-1BD9-5B73-FEAF-5E380F8998E4}"/>
              </a:ext>
            </a:extLst>
          </p:cNvPr>
          <p:cNvSpPr>
            <a:spLocks noGrp="1"/>
          </p:cNvSpPr>
          <p:nvPr>
            <p:ph type="subTitle" idx="1"/>
          </p:nvPr>
        </p:nvSpPr>
        <p:spPr/>
        <p:txBody>
          <a:bodyPr>
            <a:normAutofit fontScale="92500" lnSpcReduction="10000"/>
          </a:bodyPr>
          <a:lstStyle/>
          <a:p>
            <a:r>
              <a:rPr lang="en-US" dirty="0"/>
              <a:t>Eduardo Romo</a:t>
            </a:r>
          </a:p>
          <a:p>
            <a:r>
              <a:rPr lang="en-US" dirty="0"/>
              <a:t>BIOS 6624</a:t>
            </a:r>
          </a:p>
          <a:p>
            <a:r>
              <a:rPr lang="en-US" dirty="0"/>
              <a:t>March 2, 2026</a:t>
            </a:r>
          </a:p>
        </p:txBody>
      </p:sp>
    </p:spTree>
    <p:extLst>
      <p:ext uri="{BB962C8B-B14F-4D97-AF65-F5344CB8AC3E}">
        <p14:creationId xmlns:p14="http://schemas.microsoft.com/office/powerpoint/2010/main" val="831766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0634F-D805-33E9-328E-ADD42011275C}"/>
              </a:ext>
            </a:extLst>
          </p:cNvPr>
          <p:cNvSpPr>
            <a:spLocks noGrp="1"/>
          </p:cNvSpPr>
          <p:nvPr>
            <p:ph type="title"/>
          </p:nvPr>
        </p:nvSpPr>
        <p:spPr/>
        <p:txBody>
          <a:bodyPr/>
          <a:lstStyle/>
          <a:p>
            <a:r>
              <a:rPr lang="en-US" dirty="0"/>
              <a:t>Research Question &amp; Statistical Hypotheses</a:t>
            </a:r>
          </a:p>
        </p:txBody>
      </p:sp>
      <p:sp>
        <p:nvSpPr>
          <p:cNvPr id="3" name="Content Placeholder 2">
            <a:extLst>
              <a:ext uri="{FF2B5EF4-FFF2-40B4-BE49-F238E27FC236}">
                <a16:creationId xmlns:a16="http://schemas.microsoft.com/office/drawing/2014/main" id="{E29530ED-7CCD-8F79-F1BC-24FB30DA1152}"/>
              </a:ext>
            </a:extLst>
          </p:cNvPr>
          <p:cNvSpPr>
            <a:spLocks noGrp="1"/>
          </p:cNvSpPr>
          <p:nvPr>
            <p:ph idx="1"/>
          </p:nvPr>
        </p:nvSpPr>
        <p:spPr/>
        <p:txBody>
          <a:bodyPr>
            <a:normAutofit fontScale="85000" lnSpcReduction="20000"/>
          </a:bodyPr>
          <a:lstStyle/>
          <a:p>
            <a:r>
              <a:rPr lang="en-US" dirty="0"/>
              <a:t>Does baseline hard drug use affect treatment response 2 years after HAART initiation?</a:t>
            </a:r>
          </a:p>
          <a:p>
            <a:r>
              <a:rPr lang="en-US" dirty="0"/>
              <a:t>Four outcomes:</a:t>
            </a:r>
          </a:p>
          <a:p>
            <a:pPr lvl="1"/>
            <a:r>
              <a:rPr lang="en-US" dirty="0"/>
              <a:t>Mental QoL change</a:t>
            </a:r>
          </a:p>
          <a:p>
            <a:pPr lvl="1"/>
            <a:r>
              <a:rPr lang="en-US" dirty="0"/>
              <a:t>Physical QoL change</a:t>
            </a:r>
          </a:p>
          <a:p>
            <a:pPr lvl="1"/>
            <a:r>
              <a:rPr lang="en-US" dirty="0"/>
              <a:t>CD4+ T-cell change</a:t>
            </a:r>
          </a:p>
          <a:p>
            <a:pPr lvl="1"/>
            <a:r>
              <a:rPr lang="en-US" dirty="0"/>
              <a:t>Log viral load ratio</a:t>
            </a:r>
          </a:p>
          <a:p>
            <a:r>
              <a:rPr lang="en-US" dirty="0"/>
              <a:t>Primary Exposure: baseline hard drug use</a:t>
            </a:r>
          </a:p>
          <a:p>
            <a:r>
              <a:rPr lang="en-US" dirty="0"/>
              <a:t>Adjusted for age, BMI, smoking, education, race/ethnicity</a:t>
            </a:r>
          </a:p>
          <a:p>
            <a:r>
              <a:rPr lang="en-US" dirty="0"/>
              <a:t>Statistical hypotheses:</a:t>
            </a:r>
          </a:p>
          <a:p>
            <a:pPr lvl="1"/>
            <a:r>
              <a:rPr lang="en-US" dirty="0"/>
              <a:t>H</a:t>
            </a:r>
            <a:r>
              <a:rPr lang="en-US" baseline="-25000" dirty="0"/>
              <a:t>0 </a:t>
            </a:r>
            <a:r>
              <a:rPr lang="en-US" dirty="0"/>
              <a:t>: Mean treatment response is equal between groups</a:t>
            </a:r>
          </a:p>
          <a:p>
            <a:pPr lvl="1"/>
            <a:r>
              <a:rPr lang="en-US" dirty="0"/>
              <a:t>H</a:t>
            </a:r>
            <a:r>
              <a:rPr lang="en-US" baseline="-25000" dirty="0"/>
              <a:t>1</a:t>
            </a:r>
            <a:r>
              <a:rPr lang="en-US" dirty="0"/>
              <a:t> : Mean treatment response differs</a:t>
            </a:r>
          </a:p>
        </p:txBody>
      </p:sp>
    </p:spTree>
    <p:extLst>
      <p:ext uri="{BB962C8B-B14F-4D97-AF65-F5344CB8AC3E}">
        <p14:creationId xmlns:p14="http://schemas.microsoft.com/office/powerpoint/2010/main" val="1357554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15581-F212-0437-CD31-D92424B8EB51}"/>
              </a:ext>
            </a:extLst>
          </p:cNvPr>
          <p:cNvSpPr>
            <a:spLocks noGrp="1"/>
          </p:cNvSpPr>
          <p:nvPr>
            <p:ph type="title"/>
          </p:nvPr>
        </p:nvSpPr>
        <p:spPr/>
        <p:txBody>
          <a:bodyPr/>
          <a:lstStyle/>
          <a:p>
            <a:r>
              <a:rPr lang="en-US" dirty="0"/>
              <a:t>Data Overview</a:t>
            </a:r>
          </a:p>
        </p:txBody>
      </p:sp>
      <p:sp>
        <p:nvSpPr>
          <p:cNvPr id="3" name="Content Placeholder 2">
            <a:extLst>
              <a:ext uri="{FF2B5EF4-FFF2-40B4-BE49-F238E27FC236}">
                <a16:creationId xmlns:a16="http://schemas.microsoft.com/office/drawing/2014/main" id="{A39321DB-142C-F111-FABF-85A47F5102E7}"/>
              </a:ext>
            </a:extLst>
          </p:cNvPr>
          <p:cNvSpPr>
            <a:spLocks noGrp="1"/>
          </p:cNvSpPr>
          <p:nvPr>
            <p:ph sz="half" idx="1"/>
          </p:nvPr>
        </p:nvSpPr>
        <p:spPr/>
        <p:txBody>
          <a:bodyPr>
            <a:normAutofit fontScale="77500" lnSpcReduction="20000"/>
          </a:bodyPr>
          <a:lstStyle/>
          <a:p>
            <a:r>
              <a:rPr lang="en-US" dirty="0"/>
              <a:t>Source: Multicenter AIDS Cohort Study</a:t>
            </a:r>
          </a:p>
          <a:p>
            <a:r>
              <a:rPr lang="en-US" dirty="0"/>
              <a:t>Final analysis sample: 476 subjs</a:t>
            </a:r>
          </a:p>
          <a:p>
            <a:r>
              <a:rPr lang="en-US" dirty="0"/>
              <a:t>Collapsed categorical vars:</a:t>
            </a:r>
          </a:p>
          <a:p>
            <a:pPr lvl="1"/>
            <a:r>
              <a:rPr lang="en-US" dirty="0"/>
              <a:t>Race -&gt; White vs Other</a:t>
            </a:r>
          </a:p>
          <a:p>
            <a:pPr lvl="1"/>
            <a:r>
              <a:rPr lang="en-US" dirty="0"/>
              <a:t>Smoking -&gt; Current vs Not</a:t>
            </a:r>
          </a:p>
          <a:p>
            <a:pPr lvl="1"/>
            <a:r>
              <a:rPr lang="en-US" dirty="0"/>
              <a:t>Education -&gt; College vs No college</a:t>
            </a:r>
          </a:p>
          <a:p>
            <a:r>
              <a:rPr lang="en-US" dirty="0"/>
              <a:t>Implausible BMI values set to NA (≤0 or ≥250)</a:t>
            </a:r>
          </a:p>
          <a:p>
            <a:r>
              <a:rPr lang="en-US" dirty="0"/>
              <a:t>8.2% reported hard drug use</a:t>
            </a:r>
          </a:p>
          <a:p>
            <a:r>
              <a:rPr lang="en-US" dirty="0"/>
              <a:t>Hard drug users: </a:t>
            </a:r>
          </a:p>
          <a:p>
            <a:pPr lvl="1"/>
            <a:r>
              <a:rPr lang="en-US" dirty="0"/>
              <a:t>More likely current smokers</a:t>
            </a:r>
          </a:p>
          <a:p>
            <a:pPr lvl="1"/>
            <a:r>
              <a:rPr lang="en-US" dirty="0"/>
              <a:t>Less likely college educated</a:t>
            </a:r>
          </a:p>
          <a:p>
            <a:endParaRPr lang="en-US" dirty="0"/>
          </a:p>
        </p:txBody>
      </p:sp>
      <p:pic>
        <p:nvPicPr>
          <p:cNvPr id="6" name="Content Placeholder 5" descr="A paper with text and numbers&#10;&#10;AI-generated content may be incorrect.">
            <a:extLst>
              <a:ext uri="{FF2B5EF4-FFF2-40B4-BE49-F238E27FC236}">
                <a16:creationId xmlns:a16="http://schemas.microsoft.com/office/drawing/2014/main" id="{ADDD61C2-52E2-24C9-1A81-B35C0762C6FC}"/>
              </a:ext>
            </a:extLst>
          </p:cNvPr>
          <p:cNvPicPr>
            <a:picLocks noGrp="1" noChangeAspect="1"/>
          </p:cNvPicPr>
          <p:nvPr>
            <p:ph sz="half" idx="2"/>
          </p:nvPr>
        </p:nvPicPr>
        <p:blipFill>
          <a:blip r:embed="rId3"/>
          <a:stretch>
            <a:fillRect/>
          </a:stretch>
        </p:blipFill>
        <p:spPr>
          <a:xfrm>
            <a:off x="6853381" y="615374"/>
            <a:ext cx="4802909" cy="5771826"/>
          </a:xfrm>
        </p:spPr>
      </p:pic>
    </p:spTree>
    <p:extLst>
      <p:ext uri="{BB962C8B-B14F-4D97-AF65-F5344CB8AC3E}">
        <p14:creationId xmlns:p14="http://schemas.microsoft.com/office/powerpoint/2010/main" val="250408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EF51-D8E6-FAA1-8847-1E166A340C14}"/>
              </a:ext>
            </a:extLst>
          </p:cNvPr>
          <p:cNvSpPr>
            <a:spLocks noGrp="1"/>
          </p:cNvSpPr>
          <p:nvPr>
            <p:ph type="title"/>
          </p:nvPr>
        </p:nvSpPr>
        <p:spPr/>
        <p:txBody>
          <a:bodyPr/>
          <a:lstStyle/>
          <a:p>
            <a:r>
              <a:rPr lang="en-US" dirty="0"/>
              <a:t>Statistical Analysis</a:t>
            </a:r>
          </a:p>
        </p:txBody>
      </p:sp>
      <p:sp>
        <p:nvSpPr>
          <p:cNvPr id="3" name="Content Placeholder 2">
            <a:extLst>
              <a:ext uri="{FF2B5EF4-FFF2-40B4-BE49-F238E27FC236}">
                <a16:creationId xmlns:a16="http://schemas.microsoft.com/office/drawing/2014/main" id="{969E3FEE-988C-98A6-6D5F-C3F8FD10FBEA}"/>
              </a:ext>
            </a:extLst>
          </p:cNvPr>
          <p:cNvSpPr>
            <a:spLocks noGrp="1"/>
          </p:cNvSpPr>
          <p:nvPr>
            <p:ph idx="1"/>
          </p:nvPr>
        </p:nvSpPr>
        <p:spPr/>
        <p:txBody>
          <a:bodyPr>
            <a:normAutofit fontScale="85000" lnSpcReduction="20000"/>
          </a:bodyPr>
          <a:lstStyle/>
          <a:p>
            <a:r>
              <a:rPr lang="en-US" dirty="0"/>
              <a:t>Models</a:t>
            </a:r>
          </a:p>
          <a:p>
            <a:pPr lvl="1"/>
            <a:r>
              <a:rPr lang="en-US" dirty="0"/>
              <a:t>Linear regression for each outcome</a:t>
            </a:r>
          </a:p>
          <a:p>
            <a:pPr lvl="1"/>
            <a:r>
              <a:rPr lang="en-US" dirty="0"/>
              <a:t>Bayesian models (primary)</a:t>
            </a:r>
          </a:p>
          <a:p>
            <a:pPr lvl="1"/>
            <a:r>
              <a:rPr lang="en-US" dirty="0"/>
              <a:t>Frequentist models (validation)</a:t>
            </a:r>
          </a:p>
          <a:p>
            <a:r>
              <a:rPr lang="en-US" dirty="0"/>
              <a:t>Adjustment covariates: baseline outcome value, age, BMI, smoking status, education, and race/ethnicity</a:t>
            </a:r>
          </a:p>
          <a:p>
            <a:r>
              <a:rPr lang="en-US" dirty="0"/>
              <a:t>Secondary analysis</a:t>
            </a:r>
          </a:p>
          <a:p>
            <a:pPr lvl="1"/>
            <a:r>
              <a:rPr lang="en-US" dirty="0"/>
              <a:t>Added 2 year adherence to assess mediation between hard drug use and treatment response</a:t>
            </a:r>
          </a:p>
          <a:p>
            <a:r>
              <a:rPr lang="en-US" dirty="0"/>
              <a:t>Inference</a:t>
            </a:r>
          </a:p>
          <a:p>
            <a:pPr lvl="1"/>
            <a:r>
              <a:rPr lang="en-US" dirty="0"/>
              <a:t>Point estimate + 95% intervals</a:t>
            </a:r>
          </a:p>
          <a:p>
            <a:pPr lvl="1"/>
            <a:r>
              <a:rPr lang="en-US" dirty="0"/>
              <a:t>Bayesian posterior probabilities of clinically meaningful effects</a:t>
            </a:r>
          </a:p>
          <a:p>
            <a:pPr lvl="2"/>
            <a:endParaRPr lang="en-US" dirty="0"/>
          </a:p>
        </p:txBody>
      </p:sp>
    </p:spTree>
    <p:extLst>
      <p:ext uri="{BB962C8B-B14F-4D97-AF65-F5344CB8AC3E}">
        <p14:creationId xmlns:p14="http://schemas.microsoft.com/office/powerpoint/2010/main" val="2774130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FAE78-9C90-87C1-620A-61438A7AD022}"/>
              </a:ext>
            </a:extLst>
          </p:cNvPr>
          <p:cNvSpPr>
            <a:spLocks noGrp="1"/>
          </p:cNvSpPr>
          <p:nvPr>
            <p:ph type="title"/>
          </p:nvPr>
        </p:nvSpPr>
        <p:spPr/>
        <p:txBody>
          <a:bodyPr/>
          <a:lstStyle/>
          <a:p>
            <a:r>
              <a:rPr lang="en-US" dirty="0"/>
              <a:t>Main Results: Hard Drug Use &amp; Treatment Response</a:t>
            </a:r>
          </a:p>
        </p:txBody>
      </p:sp>
      <p:sp>
        <p:nvSpPr>
          <p:cNvPr id="5" name="Content Placeholder 4">
            <a:extLst>
              <a:ext uri="{FF2B5EF4-FFF2-40B4-BE49-F238E27FC236}">
                <a16:creationId xmlns:a16="http://schemas.microsoft.com/office/drawing/2014/main" id="{61346352-18DC-9227-8FA0-153AE2CBB174}"/>
              </a:ext>
            </a:extLst>
          </p:cNvPr>
          <p:cNvSpPr>
            <a:spLocks noGrp="1"/>
          </p:cNvSpPr>
          <p:nvPr>
            <p:ph sz="half" idx="1"/>
          </p:nvPr>
        </p:nvSpPr>
        <p:spPr/>
        <p:txBody>
          <a:bodyPr/>
          <a:lstStyle/>
          <a:p>
            <a:r>
              <a:rPr lang="en-US" dirty="0"/>
              <a:t>Little evidence for mental QoL or viral load effects</a:t>
            </a:r>
          </a:p>
          <a:p>
            <a:r>
              <a:rPr lang="en-US" dirty="0"/>
              <a:t>Hard drug use associated with:</a:t>
            </a:r>
          </a:p>
          <a:p>
            <a:pPr lvl="1"/>
            <a:r>
              <a:rPr lang="en-US" dirty="0"/>
              <a:t>↓ Physical QoL improvement</a:t>
            </a:r>
          </a:p>
          <a:p>
            <a:pPr lvl="1"/>
            <a:r>
              <a:rPr lang="en-US" dirty="0"/>
              <a:t>↓ CD4+ recovery</a:t>
            </a:r>
          </a:p>
          <a:p>
            <a:r>
              <a:rPr lang="en-US" dirty="0"/>
              <a:t>Bayesian and frequentist results consistent</a:t>
            </a:r>
          </a:p>
        </p:txBody>
      </p:sp>
      <p:pic>
        <p:nvPicPr>
          <p:cNvPr id="12" name="Content Placeholder 11" descr="A table with numbers and text&#10;&#10;AI-generated content may be incorrect.">
            <a:extLst>
              <a:ext uri="{FF2B5EF4-FFF2-40B4-BE49-F238E27FC236}">
                <a16:creationId xmlns:a16="http://schemas.microsoft.com/office/drawing/2014/main" id="{C14D6CE7-ABEC-882B-880C-14EC06D546A3}"/>
              </a:ext>
            </a:extLst>
          </p:cNvPr>
          <p:cNvPicPr>
            <a:picLocks noGrp="1" noChangeAspect="1"/>
          </p:cNvPicPr>
          <p:nvPr>
            <p:ph sz="half" idx="2"/>
          </p:nvPr>
        </p:nvPicPr>
        <p:blipFill>
          <a:blip r:embed="rId3"/>
          <a:stretch>
            <a:fillRect/>
          </a:stretch>
        </p:blipFill>
        <p:spPr>
          <a:xfrm>
            <a:off x="5922206" y="4686301"/>
            <a:ext cx="6178650" cy="1425841"/>
          </a:xfrm>
        </p:spPr>
      </p:pic>
      <p:pic>
        <p:nvPicPr>
          <p:cNvPr id="14" name="Picture 13" descr="A group of graphs showing different levels of blood&#10;&#10;AI-generated content may be incorrect.">
            <a:extLst>
              <a:ext uri="{FF2B5EF4-FFF2-40B4-BE49-F238E27FC236}">
                <a16:creationId xmlns:a16="http://schemas.microsoft.com/office/drawing/2014/main" id="{ED228834-0DEE-D6ED-316B-BBB51F681649}"/>
              </a:ext>
            </a:extLst>
          </p:cNvPr>
          <p:cNvPicPr>
            <a:picLocks noChangeAspect="1"/>
          </p:cNvPicPr>
          <p:nvPr/>
        </p:nvPicPr>
        <p:blipFill>
          <a:blip r:embed="rId4"/>
          <a:stretch>
            <a:fillRect/>
          </a:stretch>
        </p:blipFill>
        <p:spPr>
          <a:xfrm>
            <a:off x="6912278" y="1517073"/>
            <a:ext cx="4198505" cy="2697319"/>
          </a:xfrm>
          <a:prstGeom prst="rect">
            <a:avLst/>
          </a:prstGeom>
        </p:spPr>
      </p:pic>
    </p:spTree>
    <p:extLst>
      <p:ext uri="{BB962C8B-B14F-4D97-AF65-F5344CB8AC3E}">
        <p14:creationId xmlns:p14="http://schemas.microsoft.com/office/powerpoint/2010/main" val="995503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836B3-DF5F-7160-342B-73F4450F5F1E}"/>
              </a:ext>
            </a:extLst>
          </p:cNvPr>
          <p:cNvSpPr>
            <a:spLocks noGrp="1"/>
          </p:cNvSpPr>
          <p:nvPr>
            <p:ph type="title"/>
          </p:nvPr>
        </p:nvSpPr>
        <p:spPr/>
        <p:txBody>
          <a:bodyPr/>
          <a:lstStyle/>
          <a:p>
            <a:r>
              <a:rPr lang="en-US" dirty="0"/>
              <a:t>Secondary Analysis: Adjustment for Adherence (naïve mediation)</a:t>
            </a:r>
          </a:p>
        </p:txBody>
      </p:sp>
      <p:sp>
        <p:nvSpPr>
          <p:cNvPr id="3" name="Content Placeholder 2">
            <a:extLst>
              <a:ext uri="{FF2B5EF4-FFF2-40B4-BE49-F238E27FC236}">
                <a16:creationId xmlns:a16="http://schemas.microsoft.com/office/drawing/2014/main" id="{FB4D7C32-3A79-F812-02E1-1A5AEEE6FF06}"/>
              </a:ext>
            </a:extLst>
          </p:cNvPr>
          <p:cNvSpPr>
            <a:spLocks noGrp="1"/>
          </p:cNvSpPr>
          <p:nvPr>
            <p:ph sz="half" idx="1"/>
          </p:nvPr>
        </p:nvSpPr>
        <p:spPr/>
        <p:txBody>
          <a:bodyPr/>
          <a:lstStyle/>
          <a:p>
            <a:r>
              <a:rPr lang="en-US" dirty="0"/>
              <a:t>Goal: assess how hard drug coefficient changes after adjusting for adherence</a:t>
            </a:r>
          </a:p>
          <a:p>
            <a:r>
              <a:rPr lang="en-US" dirty="0"/>
              <a:t>Estimates changed minimally across outcomes</a:t>
            </a:r>
          </a:p>
          <a:p>
            <a:r>
              <a:rPr lang="en-US" dirty="0"/>
              <a:t>Suggests adherence does not strongly explain observed associations</a:t>
            </a:r>
          </a:p>
          <a:p>
            <a:r>
              <a:rPr lang="en-US" dirty="0"/>
              <a:t>Exploratory analysis, not a formal mediation analysis</a:t>
            </a:r>
          </a:p>
        </p:txBody>
      </p:sp>
      <p:pic>
        <p:nvPicPr>
          <p:cNvPr id="6" name="Content Placeholder 5" descr="A screenshot of a computer&#10;&#10;AI-generated content may be incorrect.">
            <a:extLst>
              <a:ext uri="{FF2B5EF4-FFF2-40B4-BE49-F238E27FC236}">
                <a16:creationId xmlns:a16="http://schemas.microsoft.com/office/drawing/2014/main" id="{D750A6E7-1D87-93E8-3FE5-3F2929F7ACDC}"/>
              </a:ext>
            </a:extLst>
          </p:cNvPr>
          <p:cNvPicPr>
            <a:picLocks noGrp="1" noChangeAspect="1"/>
          </p:cNvPicPr>
          <p:nvPr>
            <p:ph sz="half" idx="2"/>
          </p:nvPr>
        </p:nvPicPr>
        <p:blipFill>
          <a:blip r:embed="rId3"/>
          <a:stretch>
            <a:fillRect/>
          </a:stretch>
        </p:blipFill>
        <p:spPr>
          <a:xfrm>
            <a:off x="5860515" y="3429000"/>
            <a:ext cx="6331485" cy="1353128"/>
          </a:xfrm>
        </p:spPr>
      </p:pic>
    </p:spTree>
    <p:extLst>
      <p:ext uri="{BB962C8B-B14F-4D97-AF65-F5344CB8AC3E}">
        <p14:creationId xmlns:p14="http://schemas.microsoft.com/office/powerpoint/2010/main" val="3700899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D4A7D-DE93-49A4-4B8F-E616BA91A2C0}"/>
              </a:ext>
            </a:extLst>
          </p:cNvPr>
          <p:cNvSpPr>
            <a:spLocks noGrp="1"/>
          </p:cNvSpPr>
          <p:nvPr>
            <p:ph type="title"/>
          </p:nvPr>
        </p:nvSpPr>
        <p:spPr/>
        <p:txBody>
          <a:bodyPr/>
          <a:lstStyle/>
          <a:p>
            <a:r>
              <a:rPr lang="en-US" dirty="0"/>
              <a:t>Discussion &amp; Limitations</a:t>
            </a:r>
          </a:p>
        </p:txBody>
      </p:sp>
      <p:sp>
        <p:nvSpPr>
          <p:cNvPr id="3" name="Content Placeholder 2">
            <a:extLst>
              <a:ext uri="{FF2B5EF4-FFF2-40B4-BE49-F238E27FC236}">
                <a16:creationId xmlns:a16="http://schemas.microsoft.com/office/drawing/2014/main" id="{013D2CE2-F74D-8AFF-BA00-7238D866E831}"/>
              </a:ext>
            </a:extLst>
          </p:cNvPr>
          <p:cNvSpPr>
            <a:spLocks noGrp="1"/>
          </p:cNvSpPr>
          <p:nvPr>
            <p:ph idx="1"/>
          </p:nvPr>
        </p:nvSpPr>
        <p:spPr/>
        <p:txBody>
          <a:bodyPr>
            <a:normAutofit lnSpcReduction="10000"/>
          </a:bodyPr>
          <a:lstStyle/>
          <a:p>
            <a:r>
              <a:rPr lang="en-US" dirty="0"/>
              <a:t>Baseline hard drug use associated with:</a:t>
            </a:r>
          </a:p>
          <a:p>
            <a:pPr lvl="1"/>
            <a:r>
              <a:rPr lang="en-US" dirty="0"/>
              <a:t>Worse physical QoL improvement</a:t>
            </a:r>
          </a:p>
          <a:p>
            <a:pPr lvl="1"/>
            <a:r>
              <a:rPr lang="en-US" dirty="0"/>
              <a:t>Poorer CD4+ recovery</a:t>
            </a:r>
          </a:p>
          <a:p>
            <a:r>
              <a:rPr lang="en-US" dirty="0"/>
              <a:t>Little evidence for mental QoL or viral load effects</a:t>
            </a:r>
          </a:p>
          <a:p>
            <a:r>
              <a:rPr lang="en-US" dirty="0"/>
              <a:t>Adherence did not substantially explain associations</a:t>
            </a:r>
          </a:p>
          <a:p>
            <a:r>
              <a:rPr lang="en-US" dirty="0"/>
              <a:t>Limitations</a:t>
            </a:r>
          </a:p>
          <a:p>
            <a:pPr lvl="1"/>
            <a:r>
              <a:rPr lang="en-US" dirty="0"/>
              <a:t>Complete case analysis</a:t>
            </a:r>
          </a:p>
          <a:p>
            <a:pPr lvl="1"/>
            <a:r>
              <a:rPr lang="en-US" dirty="0"/>
              <a:t>Collapsed covariates</a:t>
            </a:r>
          </a:p>
          <a:p>
            <a:pPr lvl="1"/>
            <a:r>
              <a:rPr lang="en-US" dirty="0"/>
              <a:t>Naïve mediation approach (not </a:t>
            </a:r>
            <a:r>
              <a:rPr lang="en-US"/>
              <a:t>causal mediation)</a:t>
            </a:r>
            <a:endParaRPr lang="en-US" dirty="0"/>
          </a:p>
          <a:p>
            <a:pPr lvl="2"/>
            <a:endParaRPr lang="en-US" dirty="0"/>
          </a:p>
        </p:txBody>
      </p:sp>
    </p:spTree>
    <p:extLst>
      <p:ext uri="{BB962C8B-B14F-4D97-AF65-F5344CB8AC3E}">
        <p14:creationId xmlns:p14="http://schemas.microsoft.com/office/powerpoint/2010/main" val="172570544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55</TotalTime>
  <Words>1385</Words>
  <Application>Microsoft Macintosh PowerPoint</Application>
  <PresentationFormat>Widescreen</PresentationFormat>
  <Paragraphs>116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Franklin Gothic Book</vt:lpstr>
      <vt:lpstr>Crop</vt:lpstr>
      <vt:lpstr>Effect of baseline hard drug use on haart treatment response</vt:lpstr>
      <vt:lpstr>Research Question &amp; Statistical Hypotheses</vt:lpstr>
      <vt:lpstr>Data Overview</vt:lpstr>
      <vt:lpstr>Statistical Analysis</vt:lpstr>
      <vt:lpstr>Main Results: Hard Drug Use &amp; Treatment Response</vt:lpstr>
      <vt:lpstr>Secondary Analysis: Adjustment for Adherence (naïve mediation)</vt:lpstr>
      <vt:lpstr>Discussion &amp;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Romo, Eduardo</dc:creator>
  <cp:lastModifiedBy>Romo, Eduardo</cp:lastModifiedBy>
  <cp:revision>2</cp:revision>
  <dcterms:created xsi:type="dcterms:W3CDTF">2026-03-02T02:28:50Z</dcterms:created>
  <dcterms:modified xsi:type="dcterms:W3CDTF">2026-03-02T17:04:15Z</dcterms:modified>
</cp:coreProperties>
</file>