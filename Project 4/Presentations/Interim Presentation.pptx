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59"/>
  </p:normalViewPr>
  <p:slideViewPr>
    <p:cSldViewPr snapToGrid="0">
      <p:cViewPr varScale="1">
        <p:scale>
          <a:sx n="105" d="100"/>
          <a:sy n="105" d="100"/>
        </p:scale>
        <p:origin x="744" y="192"/>
      </p:cViewPr>
      <p:guideLst/>
    </p:cSldViewPr>
  </p:slideViewPr>
  <p:notesTextViewPr>
    <p:cViewPr>
      <p:scale>
        <a:sx n="1" d="1"/>
        <a:sy n="1" d="1"/>
      </p:scale>
      <p:origin x="0" y="-88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67E4CE-E152-E64C-A894-CADC97FDD114}" type="datetimeFigureOut">
              <a:rPr lang="en-US" smtClean="0"/>
              <a:t>5/3/26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A0F4A-AB67-8B43-8922-68AA882AB6BE}" type="slidenum">
              <a:rPr lang="en-US" smtClean="0"/>
              <a:t>‹#›</a:t>
            </a:fld>
            <a:endParaRPr lang="en-US"/>
          </a:p>
        </p:txBody>
      </p:sp>
    </p:spTree>
    <p:extLst>
      <p:ext uri="{BB962C8B-B14F-4D97-AF65-F5344CB8AC3E}">
        <p14:creationId xmlns:p14="http://schemas.microsoft.com/office/powerpoint/2010/main" val="2514758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be presenting my interim analysis plan for my project on variable selection in linear regression.</a:t>
            </a:r>
          </a:p>
        </p:txBody>
      </p:sp>
      <p:sp>
        <p:nvSpPr>
          <p:cNvPr id="4" name="Slide Number Placeholder 3"/>
          <p:cNvSpPr>
            <a:spLocks noGrp="1"/>
          </p:cNvSpPr>
          <p:nvPr>
            <p:ph type="sldNum" sz="quarter" idx="5"/>
          </p:nvPr>
        </p:nvSpPr>
        <p:spPr/>
        <p:txBody>
          <a:bodyPr/>
          <a:lstStyle/>
          <a:p>
            <a:fld id="{8D3A0F4A-AB67-8B43-8922-68AA882AB6BE}" type="slidenum">
              <a:rPr lang="en-US" smtClean="0"/>
              <a:t>1</a:t>
            </a:fld>
            <a:endParaRPr lang="en-US"/>
          </a:p>
        </p:txBody>
      </p:sp>
    </p:spTree>
    <p:extLst>
      <p:ext uri="{BB962C8B-B14F-4D97-AF65-F5344CB8AC3E}">
        <p14:creationId xmlns:p14="http://schemas.microsoft.com/office/powerpoint/2010/main" val="1479123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selection is really important in moderate to high-dimensional regression settings. There’s a key tradeoff: if we include too many irrelevant variables, we increase variance, risk overfitting, and make the model harder to interpret. On the other hand, if we leave out important variables, we introduce bias and can end up with incorrect inference.</a:t>
            </a:r>
          </a:p>
          <a:p>
            <a:r>
              <a:rPr lang="en-US" dirty="0"/>
              <a:t>There are several common approaches to variable selection. Classical methods include backward selection using p-values, AIC, or BIC, which iteratively remove variables from a full model. More modern approaches include regularization methods like lasso and elastic net, which add penalties to shrink coefficients and perform selection.</a:t>
            </a:r>
          </a:p>
          <a:p>
            <a:r>
              <a:rPr lang="en-US" dirty="0"/>
              <a:t>The goal of this project is to compare how these methods perform in a controlled setting. Specifically, I want to evaluate how well each method identifies true predictors—so in my setup, variables X1 through X5—and how often they incorrectly select noise variables, which are X6 through X20.</a:t>
            </a:r>
          </a:p>
          <a:p>
            <a:r>
              <a:rPr lang="en-US" dirty="0"/>
              <a:t>Overall, the idea is to understand how these methods behave under different conditions, rather than assuming one method is always best.</a:t>
            </a:r>
          </a:p>
          <a:p>
            <a:endParaRPr lang="en-US" dirty="0"/>
          </a:p>
        </p:txBody>
      </p:sp>
      <p:sp>
        <p:nvSpPr>
          <p:cNvPr id="4" name="Slide Number Placeholder 3"/>
          <p:cNvSpPr>
            <a:spLocks noGrp="1"/>
          </p:cNvSpPr>
          <p:nvPr>
            <p:ph type="sldNum" sz="quarter" idx="5"/>
          </p:nvPr>
        </p:nvSpPr>
        <p:spPr/>
        <p:txBody>
          <a:bodyPr/>
          <a:lstStyle/>
          <a:p>
            <a:fld id="{8D3A0F4A-AB67-8B43-8922-68AA882AB6BE}" type="slidenum">
              <a:rPr lang="en-US" smtClean="0"/>
              <a:t>2</a:t>
            </a:fld>
            <a:endParaRPr lang="en-US"/>
          </a:p>
        </p:txBody>
      </p:sp>
    </p:spTree>
    <p:extLst>
      <p:ext uri="{BB962C8B-B14F-4D97-AF65-F5344CB8AC3E}">
        <p14:creationId xmlns:p14="http://schemas.microsoft.com/office/powerpoint/2010/main" val="447688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study this, I designed a simulation study where the true model is known.</a:t>
            </a:r>
          </a:p>
          <a:p>
            <a:r>
              <a:rPr lang="en-US" dirty="0"/>
              <a:t>The data are generated from a linear model of the form Y equals X beta plus error. There are 20 predictors in total, and only the first 5 have true nonzero effects, with increasing signal strength. The remaining 15 predictors are pure noise.</a:t>
            </a:r>
          </a:p>
          <a:p>
            <a:r>
              <a:rPr lang="en-US" dirty="0"/>
              <a:t>I vary two main aspects of the data. First is sample size, using n equals 250 and 500. Second is the correlation structure among predictors, using an exchangeable correlation with rho equal to 0, 0.35, and 0.7. So this lets me study settings with independent predictors as well as moderate and high correlation.</a:t>
            </a:r>
          </a:p>
          <a:p>
            <a:r>
              <a:rPr lang="en-US" dirty="0"/>
              <a:t>For each combination of n and rho, I generate 10,000 simulated datasets.</a:t>
            </a:r>
          </a:p>
          <a:p>
            <a:r>
              <a:rPr lang="en-US" dirty="0"/>
              <a:t>I then apply several variable selection methods: backward selection using p-values, AIC, and BIC, as well as lasso and elastic net. For the penalized methods, I choose the tuning parameter lambda using cross-validation, considering both the lambda that minimizes error and the more conservative one-standard-error rule.</a:t>
            </a:r>
          </a:p>
          <a:p>
            <a:r>
              <a:rPr lang="en-US" dirty="0"/>
              <a:t>After selection, I refit the final model using ordinary least squares with only the selected variables. From that model, I extract coefficient estimates, p-values, and confidence intervals.</a:t>
            </a:r>
          </a:p>
          <a:p>
            <a:r>
              <a:rPr lang="en-US" dirty="0"/>
              <a:t>Finally, I evaluate performance in terms of both selection and inference. For selection, I look at true positive rates and false positive rates. For inference, I examine bias, coverage, type I error, and power. One important note is that this inference step ignores the uncertainty from model selection, which is something I’ll be assessing in the results.</a:t>
            </a:r>
          </a:p>
          <a:p>
            <a:endParaRPr lang="en-US" dirty="0"/>
          </a:p>
        </p:txBody>
      </p:sp>
      <p:sp>
        <p:nvSpPr>
          <p:cNvPr id="4" name="Slide Number Placeholder 3"/>
          <p:cNvSpPr>
            <a:spLocks noGrp="1"/>
          </p:cNvSpPr>
          <p:nvPr>
            <p:ph type="sldNum" sz="quarter" idx="5"/>
          </p:nvPr>
        </p:nvSpPr>
        <p:spPr/>
        <p:txBody>
          <a:bodyPr/>
          <a:lstStyle/>
          <a:p>
            <a:fld id="{8D3A0F4A-AB67-8B43-8922-68AA882AB6BE}" type="slidenum">
              <a:rPr lang="en-US" smtClean="0"/>
              <a:t>3</a:t>
            </a:fld>
            <a:endParaRPr lang="en-US"/>
          </a:p>
        </p:txBody>
      </p:sp>
    </p:spTree>
    <p:extLst>
      <p:ext uri="{BB962C8B-B14F-4D97-AF65-F5344CB8AC3E}">
        <p14:creationId xmlns:p14="http://schemas.microsoft.com/office/powerpoint/2010/main" val="468055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selection performance, BIC tends to select fewer variables overall, which leads to lower false positive rates. In contrast, lasso—especially with lambda min—tends to select more variables, which improves true positive rates but also increases false positives. Elastic net tends to fall in between and shows more stable behavior.</a:t>
            </a:r>
          </a:p>
          <a:p>
            <a:r>
              <a:rPr lang="en-US" dirty="0"/>
              <a:t>Looking at the effect of correlation, as rho increases, it becomes more difficult to distinguish between true and noise variables. In these settings, the regularization methods, particularly elastic net, tend to perform better than stepwise methods.</a:t>
            </a:r>
          </a:p>
          <a:p>
            <a:r>
              <a:rPr lang="en-US" dirty="0"/>
              <a:t>In terms of sample size, increasing from n equals 250 to 500 improves performance across the board. We see higher true positive rates, more stable selection, and better confidence interval coverage.</a:t>
            </a:r>
          </a:p>
          <a:p>
            <a:r>
              <a:rPr lang="en-US" dirty="0"/>
              <a:t>Finally, from an inference perspective, bias is generally small for the stronger signals, but coverage can fall below the nominal 95 percent level. This reflects the fact that we’re doing inference after variable selection without accounting for that selection process.</a:t>
            </a:r>
          </a:p>
          <a:p>
            <a:r>
              <a:rPr lang="en-US"/>
              <a:t>Overall, these results highlight that there is no single method that dominates in all settings, and there is a clear tradeoff between selecting the correct variables and maintaining valid inference.</a:t>
            </a:r>
          </a:p>
          <a:p>
            <a:endParaRPr lang="en-US"/>
          </a:p>
        </p:txBody>
      </p:sp>
      <p:sp>
        <p:nvSpPr>
          <p:cNvPr id="4" name="Slide Number Placeholder 3"/>
          <p:cNvSpPr>
            <a:spLocks noGrp="1"/>
          </p:cNvSpPr>
          <p:nvPr>
            <p:ph type="sldNum" sz="quarter" idx="5"/>
          </p:nvPr>
        </p:nvSpPr>
        <p:spPr/>
        <p:txBody>
          <a:bodyPr/>
          <a:lstStyle/>
          <a:p>
            <a:fld id="{8D3A0F4A-AB67-8B43-8922-68AA882AB6BE}" type="slidenum">
              <a:rPr lang="en-US" smtClean="0"/>
              <a:t>4</a:t>
            </a:fld>
            <a:endParaRPr lang="en-US"/>
          </a:p>
        </p:txBody>
      </p:sp>
    </p:spTree>
    <p:extLst>
      <p:ext uri="{BB962C8B-B14F-4D97-AF65-F5344CB8AC3E}">
        <p14:creationId xmlns:p14="http://schemas.microsoft.com/office/powerpoint/2010/main" val="3139489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C345E7-6A2A-7D48-9012-A1CAA6048A2E}" type="datetimeFigureOut">
              <a:rPr lang="en-US" smtClean="0"/>
              <a:t>5/3/26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C2E7E810-437B-204A-861B-BE74A05071FE}"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00924959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C345E7-6A2A-7D48-9012-A1CAA6048A2E}"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7E810-437B-204A-861B-BE74A05071FE}" type="slidenum">
              <a:rPr lang="en-US" smtClean="0"/>
              <a:t>‹#›</a:t>
            </a:fld>
            <a:endParaRPr lang="en-US"/>
          </a:p>
        </p:txBody>
      </p:sp>
    </p:spTree>
    <p:extLst>
      <p:ext uri="{BB962C8B-B14F-4D97-AF65-F5344CB8AC3E}">
        <p14:creationId xmlns:p14="http://schemas.microsoft.com/office/powerpoint/2010/main" val="1377080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43C345E7-6A2A-7D48-9012-A1CAA6048A2E}" type="datetimeFigureOut">
              <a:rPr lang="en-US" smtClean="0"/>
              <a:t>5/3/26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C2E7E810-437B-204A-861B-BE74A05071FE}"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1443722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C345E7-6A2A-7D48-9012-A1CAA6048A2E}" type="datetimeFigureOut">
              <a:rPr lang="en-US" smtClean="0"/>
              <a:t>5/3/26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E7E810-437B-204A-861B-BE74A05071FE}" type="slidenum">
              <a:rPr lang="en-US" smtClean="0"/>
              <a:t>‹#›</a:t>
            </a:fld>
            <a:endParaRPr lang="en-US"/>
          </a:p>
        </p:txBody>
      </p:sp>
    </p:spTree>
    <p:extLst>
      <p:ext uri="{BB962C8B-B14F-4D97-AF65-F5344CB8AC3E}">
        <p14:creationId xmlns:p14="http://schemas.microsoft.com/office/powerpoint/2010/main" val="790794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C345E7-6A2A-7D48-9012-A1CAA6048A2E}" type="datetimeFigureOut">
              <a:rPr lang="en-US" smtClean="0"/>
              <a:t>5/3/26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E7E810-437B-204A-861B-BE74A05071FE}" type="slidenum">
              <a:rPr lang="en-US" smtClean="0"/>
              <a:t>‹#›</a:t>
            </a:fld>
            <a:endParaRPr lang="en-US"/>
          </a:p>
        </p:txBody>
      </p:sp>
    </p:spTree>
    <p:extLst>
      <p:ext uri="{BB962C8B-B14F-4D97-AF65-F5344CB8AC3E}">
        <p14:creationId xmlns:p14="http://schemas.microsoft.com/office/powerpoint/2010/main" val="801583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C345E7-6A2A-7D48-9012-A1CAA6048A2E}" type="datetimeFigureOut">
              <a:rPr lang="en-US" smtClean="0"/>
              <a:t>5/3/26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E7E810-437B-204A-861B-BE74A05071FE}" type="slidenum">
              <a:rPr lang="en-US" smtClean="0"/>
              <a:t>‹#›</a:t>
            </a:fld>
            <a:endParaRPr lang="en-US"/>
          </a:p>
        </p:txBody>
      </p:sp>
    </p:spTree>
    <p:extLst>
      <p:ext uri="{BB962C8B-B14F-4D97-AF65-F5344CB8AC3E}">
        <p14:creationId xmlns:p14="http://schemas.microsoft.com/office/powerpoint/2010/main" val="725954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C345E7-6A2A-7D48-9012-A1CAA6048A2E}" type="datetimeFigureOut">
              <a:rPr lang="en-US" smtClean="0"/>
              <a:t>5/3/26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E7E810-437B-204A-861B-BE74A05071FE}" type="slidenum">
              <a:rPr lang="en-US" smtClean="0"/>
              <a:t>‹#›</a:t>
            </a:fld>
            <a:endParaRPr lang="en-US"/>
          </a:p>
        </p:txBody>
      </p:sp>
    </p:spTree>
    <p:extLst>
      <p:ext uri="{BB962C8B-B14F-4D97-AF65-F5344CB8AC3E}">
        <p14:creationId xmlns:p14="http://schemas.microsoft.com/office/powerpoint/2010/main" val="3192877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3C345E7-6A2A-7D48-9012-A1CAA6048A2E}" type="datetimeFigureOut">
              <a:rPr lang="en-US" smtClean="0"/>
              <a:t>5/3/26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2E7E810-437B-204A-861B-BE74A05071FE}"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6048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3C345E7-6A2A-7D48-9012-A1CAA6048A2E}" type="datetimeFigureOut">
              <a:rPr lang="en-US" smtClean="0"/>
              <a:t>5/3/26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2E7E810-437B-204A-861B-BE74A05071FE}"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353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C345E7-6A2A-7D48-9012-A1CAA6048A2E}"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7E810-437B-204A-861B-BE74A05071FE}" type="slidenum">
              <a:rPr lang="en-US" smtClean="0"/>
              <a:t>‹#›</a:t>
            </a:fld>
            <a:endParaRPr lang="en-US"/>
          </a:p>
        </p:txBody>
      </p:sp>
    </p:spTree>
    <p:extLst>
      <p:ext uri="{BB962C8B-B14F-4D97-AF65-F5344CB8AC3E}">
        <p14:creationId xmlns:p14="http://schemas.microsoft.com/office/powerpoint/2010/main" val="2968482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C345E7-6A2A-7D48-9012-A1CAA6048A2E}"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7E810-437B-204A-861B-BE74A05071FE}" type="slidenum">
              <a:rPr lang="en-US" smtClean="0"/>
              <a:t>‹#›</a:t>
            </a:fld>
            <a:endParaRPr lang="en-US"/>
          </a:p>
        </p:txBody>
      </p:sp>
    </p:spTree>
    <p:extLst>
      <p:ext uri="{BB962C8B-B14F-4D97-AF65-F5344CB8AC3E}">
        <p14:creationId xmlns:p14="http://schemas.microsoft.com/office/powerpoint/2010/main" val="3992741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3C345E7-6A2A-7D48-9012-A1CAA6048A2E}" type="datetimeFigureOut">
              <a:rPr lang="en-US" smtClean="0"/>
              <a:t>5/3/26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C2E7E810-437B-204A-861B-BE74A05071FE}"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15786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C236-2833-4929-B306-EBD92FC0796B}"/>
              </a:ext>
            </a:extLst>
          </p:cNvPr>
          <p:cNvSpPr>
            <a:spLocks noGrp="1"/>
          </p:cNvSpPr>
          <p:nvPr>
            <p:ph type="ctrTitle"/>
          </p:nvPr>
        </p:nvSpPr>
        <p:spPr/>
        <p:txBody>
          <a:bodyPr/>
          <a:lstStyle/>
          <a:p>
            <a:r>
              <a:rPr lang="en-US" dirty="0"/>
              <a:t>Interim Presentation</a:t>
            </a:r>
          </a:p>
        </p:txBody>
      </p:sp>
      <p:sp>
        <p:nvSpPr>
          <p:cNvPr id="3" name="Subtitle 2">
            <a:extLst>
              <a:ext uri="{FF2B5EF4-FFF2-40B4-BE49-F238E27FC236}">
                <a16:creationId xmlns:a16="http://schemas.microsoft.com/office/drawing/2014/main" id="{BA43C6DE-C36B-F3C6-0483-3F928746BD78}"/>
              </a:ext>
            </a:extLst>
          </p:cNvPr>
          <p:cNvSpPr>
            <a:spLocks noGrp="1"/>
          </p:cNvSpPr>
          <p:nvPr>
            <p:ph type="subTitle" idx="1"/>
          </p:nvPr>
        </p:nvSpPr>
        <p:spPr/>
        <p:txBody>
          <a:bodyPr/>
          <a:lstStyle/>
          <a:p>
            <a:r>
              <a:rPr lang="en-US" dirty="0"/>
              <a:t>Eduardo Romo</a:t>
            </a:r>
          </a:p>
          <a:p>
            <a:r>
              <a:rPr lang="en-US" dirty="0"/>
              <a:t>May 4, 2026</a:t>
            </a:r>
          </a:p>
        </p:txBody>
      </p:sp>
    </p:spTree>
    <p:extLst>
      <p:ext uri="{BB962C8B-B14F-4D97-AF65-F5344CB8AC3E}">
        <p14:creationId xmlns:p14="http://schemas.microsoft.com/office/powerpoint/2010/main" val="3573473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A9E47-6FE1-298E-1D25-0C8A4B7F2E8E}"/>
              </a:ext>
            </a:extLst>
          </p:cNvPr>
          <p:cNvSpPr>
            <a:spLocks noGrp="1"/>
          </p:cNvSpPr>
          <p:nvPr>
            <p:ph type="title"/>
          </p:nvPr>
        </p:nvSpPr>
        <p:spPr/>
        <p:txBody>
          <a:bodyPr/>
          <a:lstStyle/>
          <a:p>
            <a:r>
              <a:rPr lang="en-US" dirty="0"/>
              <a:t>Variable Selection in Linear Regression: Simulation Study</a:t>
            </a:r>
          </a:p>
        </p:txBody>
      </p:sp>
      <p:sp>
        <p:nvSpPr>
          <p:cNvPr id="3" name="Content Placeholder 2">
            <a:extLst>
              <a:ext uri="{FF2B5EF4-FFF2-40B4-BE49-F238E27FC236}">
                <a16:creationId xmlns:a16="http://schemas.microsoft.com/office/drawing/2014/main" id="{6D2F6154-910D-976A-6653-C8FB963D2EE3}"/>
              </a:ext>
            </a:extLst>
          </p:cNvPr>
          <p:cNvSpPr>
            <a:spLocks noGrp="1"/>
          </p:cNvSpPr>
          <p:nvPr>
            <p:ph idx="1"/>
          </p:nvPr>
        </p:nvSpPr>
        <p:spPr/>
        <p:txBody>
          <a:bodyPr>
            <a:normAutofit fontScale="92500" lnSpcReduction="20000"/>
          </a:bodyPr>
          <a:lstStyle/>
          <a:p>
            <a:r>
              <a:rPr lang="en-US" dirty="0"/>
              <a:t>Motivation</a:t>
            </a:r>
          </a:p>
          <a:p>
            <a:pPr lvl="1"/>
            <a:r>
              <a:rPr lang="en-US" dirty="0"/>
              <a:t>Variable selection is critical in moderate/high-dimensional regression</a:t>
            </a:r>
          </a:p>
          <a:p>
            <a:pPr lvl="1"/>
            <a:r>
              <a:rPr lang="en-US" dirty="0"/>
              <a:t>Tradeoff:</a:t>
            </a:r>
          </a:p>
          <a:p>
            <a:pPr lvl="2"/>
            <a:r>
              <a:rPr lang="en-US" dirty="0"/>
              <a:t>Including noisy variables leads to overfitting and high variance</a:t>
            </a:r>
          </a:p>
          <a:p>
            <a:pPr lvl="2"/>
            <a:r>
              <a:rPr lang="en-US" dirty="0"/>
              <a:t>Excluding signal variables leads to bias and incorrect inference</a:t>
            </a:r>
          </a:p>
          <a:p>
            <a:r>
              <a:rPr lang="en-US" dirty="0"/>
              <a:t>Methods compared</a:t>
            </a:r>
          </a:p>
          <a:p>
            <a:pPr lvl="1"/>
            <a:r>
              <a:rPr lang="en-US" dirty="0"/>
              <a:t>Backward selection via p-values, AIC, BIC</a:t>
            </a:r>
          </a:p>
          <a:p>
            <a:pPr lvl="1"/>
            <a:r>
              <a:rPr lang="en-US" dirty="0"/>
              <a:t>Lasso and elastic net</a:t>
            </a:r>
          </a:p>
          <a:p>
            <a:r>
              <a:rPr lang="en-US" dirty="0"/>
              <a:t>Research questions:</a:t>
            </a:r>
          </a:p>
          <a:p>
            <a:pPr lvl="1"/>
            <a:r>
              <a:rPr lang="en-US" dirty="0"/>
              <a:t>How well do methods identify true predictors (X1-X5)</a:t>
            </a:r>
          </a:p>
          <a:p>
            <a:pPr lvl="1"/>
            <a:r>
              <a:rPr lang="en-US" dirty="0"/>
              <a:t>How often do they select noise variables (X6-X20)</a:t>
            </a:r>
          </a:p>
        </p:txBody>
      </p:sp>
    </p:spTree>
    <p:extLst>
      <p:ext uri="{BB962C8B-B14F-4D97-AF65-F5344CB8AC3E}">
        <p14:creationId xmlns:p14="http://schemas.microsoft.com/office/powerpoint/2010/main" val="81316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2F7A-951D-D5C0-AC9C-99FDF952C7F5}"/>
              </a:ext>
            </a:extLst>
          </p:cNvPr>
          <p:cNvSpPr>
            <a:spLocks noGrp="1"/>
          </p:cNvSpPr>
          <p:nvPr>
            <p:ph type="title"/>
          </p:nvPr>
        </p:nvSpPr>
        <p:spPr/>
        <p:txBody>
          <a:bodyPr/>
          <a:lstStyle/>
          <a:p>
            <a:r>
              <a:rPr lang="en-US" dirty="0"/>
              <a:t>Simulation Design</a:t>
            </a:r>
          </a:p>
        </p:txBody>
      </p:sp>
      <p:sp>
        <p:nvSpPr>
          <p:cNvPr id="3" name="Content Placeholder 2">
            <a:extLst>
              <a:ext uri="{FF2B5EF4-FFF2-40B4-BE49-F238E27FC236}">
                <a16:creationId xmlns:a16="http://schemas.microsoft.com/office/drawing/2014/main" id="{85BDC307-2148-6D99-A17A-2C5047F57470}"/>
              </a:ext>
            </a:extLst>
          </p:cNvPr>
          <p:cNvSpPr>
            <a:spLocks noGrp="1"/>
          </p:cNvSpPr>
          <p:nvPr>
            <p:ph idx="1"/>
          </p:nvPr>
        </p:nvSpPr>
        <p:spPr/>
        <p:txBody>
          <a:bodyPr>
            <a:normAutofit fontScale="47500" lnSpcReduction="20000"/>
          </a:bodyPr>
          <a:lstStyle/>
          <a:p>
            <a:r>
              <a:rPr lang="en-US" dirty="0"/>
              <a:t>Data generating model</a:t>
            </a:r>
          </a:p>
          <a:p>
            <a:pPr lvl="1"/>
            <a:r>
              <a:rPr lang="en-US" dirty="0"/>
              <a:t>Y=Xβ+</a:t>
            </a:r>
            <a:r>
              <a:rPr lang="en-US" dirty="0" err="1"/>
              <a:t>ε</a:t>
            </a:r>
            <a:endParaRPr lang="en-US" dirty="0"/>
          </a:p>
          <a:p>
            <a:pPr lvl="1"/>
            <a:r>
              <a:rPr lang="en-US" dirty="0"/>
              <a:t>20 predictors, 5 true signals</a:t>
            </a:r>
          </a:p>
          <a:p>
            <a:pPr lvl="1"/>
            <a:r>
              <a:rPr lang="en-US" dirty="0"/>
              <a:t>β=(0.5/3, 1/3, 1.5/3, 2/3, 2.5/3), rest are 0</a:t>
            </a:r>
          </a:p>
          <a:p>
            <a:r>
              <a:rPr lang="en-US" dirty="0"/>
              <a:t>Simulation setup</a:t>
            </a:r>
          </a:p>
          <a:p>
            <a:pPr lvl="1"/>
            <a:r>
              <a:rPr lang="en-US" dirty="0"/>
              <a:t>N = 250, 500</a:t>
            </a:r>
          </a:p>
          <a:p>
            <a:pPr lvl="1"/>
            <a:r>
              <a:rPr lang="el-GR" dirty="0"/>
              <a:t>Ρ</a:t>
            </a:r>
            <a:r>
              <a:rPr lang="en-US" dirty="0"/>
              <a:t>=0, 0.35, 0.7 (exchangeable correlation structure)</a:t>
            </a:r>
          </a:p>
          <a:p>
            <a:pPr lvl="1"/>
            <a:r>
              <a:rPr lang="en-US" dirty="0"/>
              <a:t>10,000 replicates per scenario</a:t>
            </a:r>
          </a:p>
          <a:p>
            <a:r>
              <a:rPr lang="en-US" dirty="0"/>
              <a:t>Methods</a:t>
            </a:r>
          </a:p>
          <a:p>
            <a:pPr lvl="1"/>
            <a:r>
              <a:rPr lang="en-US" dirty="0"/>
              <a:t>Backward selection (p-value, AIC, BIC)</a:t>
            </a:r>
          </a:p>
          <a:p>
            <a:pPr lvl="1"/>
            <a:r>
              <a:rPr lang="en-US" dirty="0"/>
              <a:t>Lasso (α=1), Elastic Net (α=0.5)</a:t>
            </a:r>
          </a:p>
          <a:p>
            <a:pPr lvl="1"/>
            <a:r>
              <a:rPr lang="en-US" dirty="0"/>
              <a:t>λ chosen via cross validation (minimum and 1se)</a:t>
            </a:r>
          </a:p>
          <a:p>
            <a:r>
              <a:rPr lang="en-US" dirty="0"/>
              <a:t>Inference</a:t>
            </a:r>
          </a:p>
          <a:p>
            <a:pPr lvl="1"/>
            <a:r>
              <a:rPr lang="en-US" dirty="0"/>
              <a:t>Refit selected models using OLS</a:t>
            </a:r>
          </a:p>
          <a:p>
            <a:pPr lvl="1"/>
            <a:r>
              <a:rPr lang="en-US" dirty="0"/>
              <a:t>Extract estimates, p-values, 95% CI</a:t>
            </a:r>
          </a:p>
          <a:p>
            <a:r>
              <a:rPr lang="en-US" dirty="0"/>
              <a:t>Evaluation: TPR, FPR, bias, coverage, type 1 error, and power</a:t>
            </a:r>
          </a:p>
        </p:txBody>
      </p:sp>
    </p:spTree>
    <p:extLst>
      <p:ext uri="{BB962C8B-B14F-4D97-AF65-F5344CB8AC3E}">
        <p14:creationId xmlns:p14="http://schemas.microsoft.com/office/powerpoint/2010/main" val="3267473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FBCB3-A0B8-E2BC-4F2E-719D472FBF39}"/>
              </a:ext>
            </a:extLst>
          </p:cNvPr>
          <p:cNvSpPr>
            <a:spLocks noGrp="1"/>
          </p:cNvSpPr>
          <p:nvPr>
            <p:ph type="title"/>
          </p:nvPr>
        </p:nvSpPr>
        <p:spPr/>
        <p:txBody>
          <a:bodyPr/>
          <a:lstStyle/>
          <a:p>
            <a:r>
              <a:rPr lang="en-US" dirty="0"/>
              <a:t>Preliminary Results</a:t>
            </a:r>
          </a:p>
        </p:txBody>
      </p:sp>
      <p:sp>
        <p:nvSpPr>
          <p:cNvPr id="3" name="Content Placeholder 2">
            <a:extLst>
              <a:ext uri="{FF2B5EF4-FFF2-40B4-BE49-F238E27FC236}">
                <a16:creationId xmlns:a16="http://schemas.microsoft.com/office/drawing/2014/main" id="{10AE4895-3020-176E-9772-6B2D9F5C6202}"/>
              </a:ext>
            </a:extLst>
          </p:cNvPr>
          <p:cNvSpPr>
            <a:spLocks noGrp="1"/>
          </p:cNvSpPr>
          <p:nvPr>
            <p:ph idx="1"/>
          </p:nvPr>
        </p:nvSpPr>
        <p:spPr/>
        <p:txBody>
          <a:bodyPr/>
          <a:lstStyle/>
          <a:p>
            <a:r>
              <a:rPr lang="en-US" dirty="0"/>
              <a:t>Selection Performance:</a:t>
            </a:r>
          </a:p>
          <a:p>
            <a:pPr lvl="1"/>
            <a:r>
              <a:rPr lang="en-US" dirty="0"/>
              <a:t>BIC selects fewer variables so lower false positives</a:t>
            </a:r>
          </a:p>
          <a:p>
            <a:pPr lvl="1"/>
            <a:r>
              <a:rPr lang="en-US" dirty="0"/>
              <a:t>Lasso selects more variables leading to higher TPR but higher FPR</a:t>
            </a:r>
          </a:p>
          <a:p>
            <a:pPr lvl="1"/>
            <a:r>
              <a:rPr lang="en-US" dirty="0"/>
              <a:t>Elastic net improves stability under correlation</a:t>
            </a:r>
          </a:p>
          <a:p>
            <a:r>
              <a:rPr lang="en-US" dirty="0"/>
              <a:t>Effect of correlation</a:t>
            </a:r>
          </a:p>
          <a:p>
            <a:pPr lvl="1"/>
            <a:r>
              <a:rPr lang="en-US" dirty="0"/>
              <a:t>Higher correlation makes it harder to distinguish true vs noise variables</a:t>
            </a:r>
          </a:p>
          <a:p>
            <a:pPr lvl="1"/>
            <a:r>
              <a:rPr lang="en-US" dirty="0"/>
              <a:t>Regularization methods outperform stepwise when high correlation</a:t>
            </a:r>
          </a:p>
          <a:p>
            <a:r>
              <a:rPr lang="en-US" dirty="0"/>
              <a:t>Effect of sample size</a:t>
            </a:r>
          </a:p>
          <a:p>
            <a:pPr lvl="1"/>
            <a:r>
              <a:rPr lang="en-US" dirty="0"/>
              <a:t>N = 500 improves true positive rate, stability of selection, and coverage</a:t>
            </a:r>
          </a:p>
        </p:txBody>
      </p:sp>
    </p:spTree>
    <p:extLst>
      <p:ext uri="{BB962C8B-B14F-4D97-AF65-F5344CB8AC3E}">
        <p14:creationId xmlns:p14="http://schemas.microsoft.com/office/powerpoint/2010/main" val="424706657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124</TotalTime>
  <Words>999</Words>
  <Application>Microsoft Macintosh PowerPoint</Application>
  <PresentationFormat>Widescreen</PresentationFormat>
  <Paragraphs>63</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Aptos</vt:lpstr>
      <vt:lpstr>Franklin Gothic Book</vt:lpstr>
      <vt:lpstr>Crop</vt:lpstr>
      <vt:lpstr>Interim Presentation</vt:lpstr>
      <vt:lpstr>Variable Selection in Linear Regression: Simulation Study</vt:lpstr>
      <vt:lpstr>Simulation Design</vt:lpstr>
      <vt:lpstr>Preliminary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Romo, Eduardo</dc:creator>
  <cp:lastModifiedBy>Romo, Eduardo</cp:lastModifiedBy>
  <cp:revision>2</cp:revision>
  <dcterms:created xsi:type="dcterms:W3CDTF">2026-05-04T01:56:04Z</dcterms:created>
  <dcterms:modified xsi:type="dcterms:W3CDTF">2026-05-04T04:00:42Z</dcterms:modified>
</cp:coreProperties>
</file>