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79551"/>
  </p:normalViewPr>
  <p:slideViewPr>
    <p:cSldViewPr snapToGrid="0">
      <p:cViewPr varScale="1">
        <p:scale>
          <a:sx n="123" d="100"/>
          <a:sy n="123" d="100"/>
        </p:scale>
        <p:origin x="19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478CA-5BC0-AE40-A50D-6B3124F902C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053A0-F96D-6142-8B68-BF1C6D85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53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everyone, today I’ll be presenting my analysis of risk factors and 10-year probability of stroke using data from the Framingham Heart Study.</a:t>
            </a:r>
          </a:p>
          <a:p>
            <a:r>
              <a:rPr lang="en-US" dirty="0"/>
              <a:t>This project focuses on identifying key predictors of stroke and using those predictors to estimate stroke risk across different clinical profiles.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053A0-F96D-6142-8B68-BF1C6D8542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7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goal of this analysis was to identify baseline risk factors associated with stroke incidence and to estimate 10-year stroke probability across clinically meaningful risk profiles.</a:t>
            </a:r>
          </a:p>
          <a:p>
            <a:r>
              <a:rPr lang="en-US" dirty="0"/>
              <a:t>In addition, I explored how diabetes status and systolic blood pressure change over time across the three exam periods.</a:t>
            </a:r>
          </a:p>
          <a:p>
            <a:r>
              <a:rPr lang="en-US" dirty="0"/>
              <a:t>The outcome of interest is time to first stroke within 10 years of follow-up.</a:t>
            </a:r>
          </a:p>
          <a:p>
            <a:r>
              <a:rPr lang="en-US" dirty="0"/>
              <a:t>The key covariates include age, systolic blood pressure, diabetes, smoking status, and additional cardiovascular risk factors such as coronary heart disease, blood pressure medication use, cholesterol, and BMI.</a:t>
            </a:r>
          </a:p>
          <a:p>
            <a:r>
              <a:rPr lang="en-US" dirty="0"/>
              <a:t>These variables were selected based on clinical relevance and prior literature.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053A0-F96D-6142-8B68-BF1C6D8542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227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initially included 11,627 observations across three exam periods.</a:t>
            </a:r>
          </a:p>
          <a:p>
            <a:r>
              <a:rPr lang="en-US" dirty="0"/>
              <a:t>For the primary analysis, I restricted the dataset to baseline measurements from the first exam, resulting in 4,434 participants.</a:t>
            </a:r>
          </a:p>
          <a:p>
            <a:r>
              <a:rPr lang="en-US" dirty="0"/>
              <a:t>After excluding individuals with prevalent stroke at baseline, the final sample included 4,402 participants.</a:t>
            </a:r>
          </a:p>
          <a:p>
            <a:r>
              <a:rPr lang="en-US" dirty="0"/>
              <a:t>The mean age was about 50 years, and the 10-year stroke incidence was relatively low at 2.5%.</a:t>
            </a:r>
          </a:p>
          <a:p>
            <a:r>
              <a:rPr lang="en-US" dirty="0"/>
              <a:t>Missingness was minimal, around 3%, so a complete-case analysis was used.</a:t>
            </a:r>
          </a:p>
          <a:p>
            <a:r>
              <a:rPr lang="en-US" dirty="0"/>
              <a:t>Overall, the dataset was fairly clean and appropriate for survival analysis.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053A0-F96D-6142-8B68-BF1C6D8542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68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analyze the data, I used Cox proportional hazards models, which are appropriate for time-to-event outcomes.</a:t>
            </a:r>
          </a:p>
          <a:p>
            <a:r>
              <a:rPr lang="en-US" dirty="0"/>
              <a:t>Models were fit separately for males and females to allow for potential differences in risk factors.</a:t>
            </a:r>
          </a:p>
          <a:p>
            <a:r>
              <a:rPr lang="en-US" dirty="0"/>
              <a:t>Age, diabetes, and systolic blood pressure were included in all models a priori due to their strong clinical importance.</a:t>
            </a:r>
          </a:p>
          <a:p>
            <a:r>
              <a:rPr lang="en-US" dirty="0"/>
              <a:t>Additional variables were selected using backward selection based on AIC, considering coronary heart disease, blood pressure medication use, smoking, cholesterol, and BMI.</a:t>
            </a:r>
          </a:p>
          <a:p>
            <a:r>
              <a:rPr lang="en-US" dirty="0"/>
              <a:t>To estimate risk, I calculated 10-year stroke probabilities using the survival function from the fitted models.</a:t>
            </a:r>
          </a:p>
          <a:p>
            <a:r>
              <a:rPr lang="en-US" dirty="0"/>
              <a:t>Finally, I assessed the proportional hazards assumption using Schoenfeld residuals, and there was no evidence of violation.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053A0-F96D-6142-8B68-BF1C6D8542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14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Descriptively, stroke incidence was low at 2.5%, which is important to keep in mind when interpreting results.</a:t>
            </a:r>
          </a:p>
          <a:p>
            <a:r>
              <a:rPr lang="en-US" dirty="0"/>
              <a:t>From the Kaplan-Meier curves, we see that stroke risk increases with age, systolic blood pressure, and diabetes.</a:t>
            </a:r>
          </a:p>
          <a:p>
            <a:r>
              <a:rPr lang="en-US" dirty="0"/>
              <a:t>Individuals with coronary heart disease and those using blood pressure medications showed lower stroke-free survival over time.</a:t>
            </a:r>
          </a:p>
          <a:p>
            <a:r>
              <a:rPr lang="en-US" dirty="0"/>
              <a:t>Interestingly, smoking showed minimal separation in survival curves, especially among males.</a:t>
            </a:r>
          </a:p>
          <a:p>
            <a:r>
              <a:rPr lang="en-US" dirty="0"/>
              <a:t>Overall, these patterns suggest that traditional cardiovascular risk factors are driving stroke risk in this cohort.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053A0-F96D-6142-8B68-BF1C6D8542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33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 the model results, age and systolic blood pressure were significant predictors of stroke in both males and females.</a:t>
            </a:r>
          </a:p>
          <a:p>
            <a:r>
              <a:rPr lang="en-US" dirty="0"/>
              <a:t>For example, each additional year of age was associated with about a 6 to 8 percent increase in stroke hazard.</a:t>
            </a:r>
          </a:p>
          <a:p>
            <a:r>
              <a:rPr lang="en-US" dirty="0"/>
              <a:t>Diabetes showed the strongest association among males, with a hazard ratio of about 4.8, indicating nearly a five-fold increase in risk.</a:t>
            </a:r>
          </a:p>
          <a:p>
            <a:r>
              <a:rPr lang="en-US" dirty="0"/>
              <a:t>However, diabetes was not statistically significant among females, although the effect was still in the expected direction.</a:t>
            </a:r>
          </a:p>
          <a:p>
            <a:r>
              <a:rPr lang="en-US" dirty="0"/>
              <a:t>Smoking was also interesting — it was significant in males but not in females, suggesting possible sex differences in its effect.</a:t>
            </a:r>
          </a:p>
          <a:p>
            <a:r>
              <a:rPr lang="en-US" dirty="0"/>
              <a:t>When translating these results into predicted probabilities, we see that stroke risk increases substantially with age and accumulation of risk factors.</a:t>
            </a:r>
          </a:p>
          <a:p>
            <a:r>
              <a:rPr lang="en-US" dirty="0"/>
              <a:t>The highest risk occurs in individuals with both high blood pressure and diabetes.</a:t>
            </a:r>
          </a:p>
          <a:p>
            <a:r>
              <a:rPr lang="en-US" dirty="0"/>
              <a:t>For example, among males at age 60, the predicted 10-year stroke risk reached about 22%, which is much higher than baseline risk.</a:t>
            </a:r>
          </a:p>
          <a:p>
            <a:r>
              <a:rPr lang="en-US" dirty="0"/>
              <a:t>Finally, the longitudinal analysis showed that both diabetes prevalence and systolic blood pressure increased over time in both sexes, suggesting that risk factors worsen as the cohort ages.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053A0-F96D-6142-8B68-BF1C6D8542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02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summary, age and systolic blood pressure were consistent predictors of stroke across both sexes, and diabetes was the strongest risk factor, particularly among males.</a:t>
            </a:r>
          </a:p>
          <a:p>
            <a:r>
              <a:rPr lang="en-US" dirty="0"/>
              <a:t>The combination of high blood pressure and diabetes resulted in the largest increases in predicted stroke risk.</a:t>
            </a:r>
          </a:p>
          <a:p>
            <a:r>
              <a:rPr lang="en-US" dirty="0"/>
              <a:t>There are several important limitations to consider.</a:t>
            </a:r>
          </a:p>
          <a:p>
            <a:r>
              <a:rPr lang="en-US" dirty="0"/>
              <a:t>First, the cohort is relatively young, with a mean age of 50, which likely explains the low stroke incidence and limits statistical power.</a:t>
            </a:r>
          </a:p>
          <a:p>
            <a:r>
              <a:rPr lang="en-US" dirty="0"/>
              <a:t>Second, the analysis used baseline covariates only, even though risk factors such as diabetes and blood pressure increased over time.</a:t>
            </a:r>
          </a:p>
          <a:p>
            <a:r>
              <a:rPr lang="en-US" dirty="0"/>
              <a:t>Third, backward selection using AIC is a simple, data-driven method and may produce unstable results.</a:t>
            </a:r>
          </a:p>
          <a:p>
            <a:r>
              <a:rPr lang="en-US" dirty="0"/>
              <a:t>For future work, it would be useful to analyze older populations, incorporate time-varying covariates, and use more robust variable selection methods.</a:t>
            </a:r>
          </a:p>
          <a:p>
            <a:r>
              <a:rPr lang="en-US"/>
              <a:t>Overall, this analysis highlights the importance of cardiovascular risk factors in predicting stroke and demonstrates how risk increases with both age and the accumulation of these factors.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053A0-F96D-6142-8B68-BF1C6D8542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90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F6D1230-F698-F944-A71E-4D4EE2A1D60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7347D19-8C3A-EB4E-B904-0E4204D4808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2763611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1230-F698-F944-A71E-4D4EE2A1D60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47D19-8C3A-EB4E-B904-0E4204D48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18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F6D1230-F698-F944-A71E-4D4EE2A1D60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7347D19-8C3A-EB4E-B904-0E4204D4808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853047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1230-F698-F944-A71E-4D4EE2A1D60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47D19-8C3A-EB4E-B904-0E4204D48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21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1230-F698-F944-A71E-4D4EE2A1D60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47D19-8C3A-EB4E-B904-0E4204D48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9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1230-F698-F944-A71E-4D4EE2A1D60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47D19-8C3A-EB4E-B904-0E4204D48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88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1230-F698-F944-A71E-4D4EE2A1D60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47D19-8C3A-EB4E-B904-0E4204D48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4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F6D1230-F698-F944-A71E-4D4EE2A1D60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7347D19-8C3A-EB4E-B904-0E4204D4808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9171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F6D1230-F698-F944-A71E-4D4EE2A1D60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7347D19-8C3A-EB4E-B904-0E4204D4808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8466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1230-F698-F944-A71E-4D4EE2A1D60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47D19-8C3A-EB4E-B904-0E4204D48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9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1230-F698-F944-A71E-4D4EE2A1D60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47D19-8C3A-EB4E-B904-0E4204D48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55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F6D1230-F698-F944-A71E-4D4EE2A1D60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7347D19-8C3A-EB4E-B904-0E4204D4808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8952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F9E1-ED93-ADB7-E196-E371855ED5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/>
              <a:t>Risk Factors and 10-year probability of stroke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B6F36-1B45-1CDB-4B85-D6F9F297ED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Eduardo Romo</a:t>
            </a:r>
          </a:p>
          <a:p>
            <a:r>
              <a:rPr lang="en-US" dirty="0"/>
              <a:t>April 22, 2026</a:t>
            </a:r>
          </a:p>
        </p:txBody>
      </p:sp>
    </p:spTree>
    <p:extLst>
      <p:ext uri="{BB962C8B-B14F-4D97-AF65-F5344CB8AC3E}">
        <p14:creationId xmlns:p14="http://schemas.microsoft.com/office/powerpoint/2010/main" val="197206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27768-961E-8CEF-1233-C682B34B7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75477-31C1-806A-7019-C7C24274B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Goals:</a:t>
            </a:r>
          </a:p>
          <a:p>
            <a:pPr lvl="1"/>
            <a:r>
              <a:rPr lang="en-US" dirty="0"/>
              <a:t>Identify baseline risk factors associated with stroke incidence</a:t>
            </a:r>
          </a:p>
          <a:p>
            <a:pPr lvl="1"/>
            <a:r>
              <a:rPr lang="en-US" dirty="0"/>
              <a:t>Estimate 10-year stroke probability across risk profiles</a:t>
            </a:r>
          </a:p>
          <a:p>
            <a:pPr lvl="1"/>
            <a:r>
              <a:rPr lang="en-US" dirty="0"/>
              <a:t>Describe change in diabetes status and systolic blood pressure across three exam periods</a:t>
            </a:r>
          </a:p>
          <a:p>
            <a:r>
              <a:rPr lang="en-US" dirty="0"/>
              <a:t>Outcome: Time to first stroke within 10 years</a:t>
            </a:r>
          </a:p>
          <a:p>
            <a:r>
              <a:rPr lang="en-US" dirty="0"/>
              <a:t>Key covariates:</a:t>
            </a:r>
          </a:p>
          <a:p>
            <a:pPr lvl="1"/>
            <a:r>
              <a:rPr lang="en-US" dirty="0"/>
              <a:t>Age, systolic blood pressure, diabetes, smoking, CHD, BP meds, cholesterol, BMI</a:t>
            </a:r>
          </a:p>
        </p:txBody>
      </p:sp>
    </p:spTree>
    <p:extLst>
      <p:ext uri="{BB962C8B-B14F-4D97-AF65-F5344CB8AC3E}">
        <p14:creationId xmlns:p14="http://schemas.microsoft.com/office/powerpoint/2010/main" val="1358857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E198-C447-7CBC-062D-09CC289D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88C13-A4C5-A874-8B2E-9913E0AAF5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 dataset: 11,627</a:t>
            </a:r>
          </a:p>
          <a:p>
            <a:r>
              <a:rPr lang="en-US" dirty="0"/>
              <a:t>Primary analysis, exclude dataset to first examination period (4,434 participants)</a:t>
            </a:r>
          </a:p>
          <a:p>
            <a:r>
              <a:rPr lang="en-US" dirty="0"/>
              <a:t>Exclude participants with prevalent stroke at baseline (4,402)</a:t>
            </a:r>
          </a:p>
          <a:p>
            <a:r>
              <a:rPr lang="en-US" dirty="0"/>
              <a:t>Mean age: 50 years</a:t>
            </a:r>
          </a:p>
          <a:p>
            <a:r>
              <a:rPr lang="en-US" dirty="0"/>
              <a:t>Stroke incidence: 2.5%</a:t>
            </a:r>
          </a:p>
          <a:p>
            <a:r>
              <a:rPr lang="en-US" dirty="0"/>
              <a:t>Minimal missingness (~3%)</a:t>
            </a:r>
          </a:p>
        </p:txBody>
      </p:sp>
      <p:pic>
        <p:nvPicPr>
          <p:cNvPr id="6" name="Content Placeholder 5" descr="A table of blood pressure&#10;&#10;AI-generated content may be incorrect.">
            <a:extLst>
              <a:ext uri="{FF2B5EF4-FFF2-40B4-BE49-F238E27FC236}">
                <a16:creationId xmlns:a16="http://schemas.microsoft.com/office/drawing/2014/main" id="{A8C4D6BB-B80A-05B9-CCEE-3E91B1C6B7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32859" y="2286000"/>
            <a:ext cx="4231706" cy="3581400"/>
          </a:xfrm>
        </p:spPr>
      </p:pic>
    </p:spTree>
    <p:extLst>
      <p:ext uri="{BB962C8B-B14F-4D97-AF65-F5344CB8AC3E}">
        <p14:creationId xmlns:p14="http://schemas.microsoft.com/office/powerpoint/2010/main" val="906758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1D244-A967-62F6-8208-19B1617C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7B212-C192-277B-C092-96E1E43D3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Cox proportional hazards model</a:t>
            </a:r>
          </a:p>
          <a:p>
            <a:r>
              <a:rPr lang="en-US" dirty="0"/>
              <a:t>Separate models for males and females</a:t>
            </a:r>
          </a:p>
          <a:p>
            <a:r>
              <a:rPr lang="en-US" dirty="0"/>
              <a:t>Forced variables: Age, diabetes, systolic blood pressure</a:t>
            </a:r>
          </a:p>
          <a:p>
            <a:r>
              <a:rPr lang="en-US" dirty="0"/>
              <a:t>Variable selection</a:t>
            </a:r>
          </a:p>
          <a:p>
            <a:pPr lvl="1"/>
            <a:r>
              <a:rPr lang="en-US" dirty="0"/>
              <a:t>Backward selection using AIC</a:t>
            </a:r>
          </a:p>
          <a:p>
            <a:pPr lvl="1"/>
            <a:r>
              <a:rPr lang="en-US" dirty="0"/>
              <a:t>Candidates: CHD, BP meds, smoking, cholesterol, BMI</a:t>
            </a:r>
          </a:p>
          <a:p>
            <a:r>
              <a:rPr lang="en-US" dirty="0"/>
              <a:t>Risk estimation: 10-year probability = 1-S(10)</a:t>
            </a:r>
          </a:p>
          <a:p>
            <a:r>
              <a:rPr lang="en-US" dirty="0"/>
              <a:t>Diagnostics: Schoenfeld residuals to test PH assumption</a:t>
            </a:r>
          </a:p>
        </p:txBody>
      </p:sp>
    </p:spTree>
    <p:extLst>
      <p:ext uri="{BB962C8B-B14F-4D97-AF65-F5344CB8AC3E}">
        <p14:creationId xmlns:p14="http://schemas.microsoft.com/office/powerpoint/2010/main" val="923975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56029-0AB2-D42C-5BE0-8ACB5E86F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A9131-0937-BE40-8B09-E97C4C46F1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Stroke incidence low (2.5%)</a:t>
            </a:r>
          </a:p>
          <a:p>
            <a:r>
              <a:rPr lang="en-US" dirty="0"/>
              <a:t>Risk increases with age, blood pressure, and diabetes</a:t>
            </a:r>
          </a:p>
          <a:p>
            <a:r>
              <a:rPr lang="en-US" dirty="0"/>
              <a:t>Lower survival for CHD and BP med use</a:t>
            </a:r>
          </a:p>
          <a:p>
            <a:r>
              <a:rPr lang="en-US" dirty="0"/>
              <a:t>Minimal separation for smokers</a:t>
            </a:r>
          </a:p>
        </p:txBody>
      </p:sp>
      <p:pic>
        <p:nvPicPr>
          <p:cNvPr id="6" name="Content Placeholder 5" descr="A graph of different types of blood pressure&#10;&#10;AI-generated content may be incorrect.">
            <a:extLst>
              <a:ext uri="{FF2B5EF4-FFF2-40B4-BE49-F238E27FC236}">
                <a16:creationId xmlns:a16="http://schemas.microsoft.com/office/drawing/2014/main" id="{A73A33C0-3E53-3BE8-C9D7-8074266C01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24625" y="2626041"/>
            <a:ext cx="4448175" cy="2901318"/>
          </a:xfrm>
        </p:spPr>
      </p:pic>
    </p:spTree>
    <p:extLst>
      <p:ext uri="{BB962C8B-B14F-4D97-AF65-F5344CB8AC3E}">
        <p14:creationId xmlns:p14="http://schemas.microsoft.com/office/powerpoint/2010/main" val="4070513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4889E-E6AC-2BF0-94A7-9D9B2465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44D5-6095-6C91-0EBA-3526CB13FC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Higher risk of stroke with increase in age and SBP for both sexes</a:t>
            </a:r>
          </a:p>
          <a:p>
            <a:r>
              <a:rPr lang="en-US" dirty="0"/>
              <a:t>Strong effect of diabetes in males (HR = 4.8) but not significant in females</a:t>
            </a:r>
          </a:p>
          <a:p>
            <a:r>
              <a:rPr lang="en-US" dirty="0"/>
              <a:t>Smoking significant for males only</a:t>
            </a:r>
          </a:p>
          <a:p>
            <a:r>
              <a:rPr lang="en-US" dirty="0"/>
              <a:t>Risk increases as Age goes from 40 to 60</a:t>
            </a:r>
          </a:p>
          <a:p>
            <a:r>
              <a:rPr lang="en-US" dirty="0"/>
              <a:t>Highest risk is found with High BP + Diabetes especially in males (~22%)</a:t>
            </a:r>
          </a:p>
          <a:p>
            <a:r>
              <a:rPr lang="en-US" dirty="0"/>
              <a:t>Diabetes status and SBP increases as time progresses in study for both males and females</a:t>
            </a:r>
          </a:p>
          <a:p>
            <a:endParaRPr lang="en-US" dirty="0"/>
          </a:p>
        </p:txBody>
      </p:sp>
      <p:pic>
        <p:nvPicPr>
          <p:cNvPr id="6" name="Content Placeholder 5" descr="A table of numbers and text&#10;&#10;AI-generated content may be incorrect.">
            <a:extLst>
              <a:ext uri="{FF2B5EF4-FFF2-40B4-BE49-F238E27FC236}">
                <a16:creationId xmlns:a16="http://schemas.microsoft.com/office/drawing/2014/main" id="{7ACD7B9D-2DBF-DF46-758B-8398E06008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24625" y="169718"/>
            <a:ext cx="4448175" cy="1545335"/>
          </a:xfrm>
        </p:spPr>
      </p:pic>
      <p:pic>
        <p:nvPicPr>
          <p:cNvPr id="10" name="Picture 9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36146434-953F-E367-6682-1F2051E05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1957364"/>
            <a:ext cx="4534477" cy="2943271"/>
          </a:xfrm>
          <a:prstGeom prst="rect">
            <a:avLst/>
          </a:prstGeom>
        </p:spPr>
      </p:pic>
      <p:pic>
        <p:nvPicPr>
          <p:cNvPr id="12" name="Picture 11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567E6EC0-AEDC-6908-DAB0-98703419DA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5049505"/>
            <a:ext cx="4694959" cy="180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298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185E-9E91-ECA2-E515-0A001BF1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E3289-090A-096C-B768-12C51C06D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Main conclusions:</a:t>
            </a:r>
          </a:p>
          <a:p>
            <a:pPr lvl="1"/>
            <a:r>
              <a:rPr lang="en-US" dirty="0"/>
              <a:t>Age and systolic BP are consistent predictors</a:t>
            </a:r>
          </a:p>
          <a:p>
            <a:pPr lvl="1"/>
            <a:r>
              <a:rPr lang="en-US" dirty="0"/>
              <a:t>Diabetes is strongest risk factor especially for males</a:t>
            </a:r>
          </a:p>
          <a:p>
            <a:pPr lvl="1"/>
            <a:r>
              <a:rPr lang="en-US" dirty="0"/>
              <a:t>Combined risk factors (High </a:t>
            </a:r>
            <a:r>
              <a:rPr lang="en-US" dirty="0" err="1"/>
              <a:t>BP+Diabetes</a:t>
            </a:r>
            <a:r>
              <a:rPr lang="en-US" dirty="0"/>
              <a:t>) have largest increase in stroke probability</a:t>
            </a:r>
          </a:p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Young cohort (mean age ~50 so low stroke incidence)</a:t>
            </a:r>
          </a:p>
          <a:p>
            <a:pPr lvl="1"/>
            <a:r>
              <a:rPr lang="en-US" dirty="0"/>
              <a:t>Limited power (few events)</a:t>
            </a:r>
          </a:p>
          <a:p>
            <a:pPr lvl="1"/>
            <a:r>
              <a:rPr lang="en-US" dirty="0"/>
              <a:t>Baseline-only covariates</a:t>
            </a:r>
          </a:p>
          <a:p>
            <a:pPr lvl="1"/>
            <a:r>
              <a:rPr lang="en-US" dirty="0"/>
              <a:t>AIC selection may be unstable and data-driven</a:t>
            </a:r>
          </a:p>
          <a:p>
            <a:r>
              <a:rPr lang="en-US" dirty="0"/>
              <a:t>Future Work:</a:t>
            </a:r>
          </a:p>
          <a:p>
            <a:pPr lvl="1"/>
            <a:r>
              <a:rPr lang="en-US" dirty="0"/>
              <a:t>Older populations</a:t>
            </a:r>
          </a:p>
          <a:p>
            <a:pPr lvl="1"/>
            <a:r>
              <a:rPr lang="en-US" dirty="0"/>
              <a:t>Time-varying models</a:t>
            </a:r>
          </a:p>
          <a:p>
            <a:pPr lvl="1"/>
            <a:r>
              <a:rPr lang="en-US" dirty="0"/>
              <a:t>More robust variable selection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26324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29</TotalTime>
  <Words>1213</Words>
  <Application>Microsoft Macintosh PowerPoint</Application>
  <PresentationFormat>Widescreen</PresentationFormat>
  <Paragraphs>101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Franklin Gothic Book</vt:lpstr>
      <vt:lpstr>Crop</vt:lpstr>
      <vt:lpstr>Risk Factors and 10-year probability of stroke</vt:lpstr>
      <vt:lpstr>Research Question </vt:lpstr>
      <vt:lpstr>Data Overview</vt:lpstr>
      <vt:lpstr>Analysis</vt:lpstr>
      <vt:lpstr>Descriptive Results</vt:lpstr>
      <vt:lpstr>Model Results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Romo, Eduardo</dc:creator>
  <cp:lastModifiedBy>Romo, Eduardo</cp:lastModifiedBy>
  <cp:revision>2</cp:revision>
  <cp:lastPrinted>2026-04-22T00:52:10Z</cp:lastPrinted>
  <dcterms:created xsi:type="dcterms:W3CDTF">2026-04-22T00:30:23Z</dcterms:created>
  <dcterms:modified xsi:type="dcterms:W3CDTF">2026-04-22T00:59:43Z</dcterms:modified>
</cp:coreProperties>
</file>