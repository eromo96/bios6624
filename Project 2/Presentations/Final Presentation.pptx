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4"/>
    <p:restoredTop sz="94709"/>
  </p:normalViewPr>
  <p:slideViewPr>
    <p:cSldViewPr snapToGrid="0">
      <p:cViewPr varScale="1">
        <p:scale>
          <a:sx n="106" d="100"/>
          <a:sy n="106" d="100"/>
        </p:scale>
        <p:origin x="6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2521000-1559-FB45-8E13-14BF635B0D2F}" type="datetimeFigureOut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077D6A97-8ADF-5E46-BCC6-3EAF5A88A9E7}" type="slidenum">
              <a:rPr lang="en-US" smtClean="0"/>
              <a:t>‹#›</a:t>
            </a:fld>
            <a:endParaRPr lang="en-US"/>
          </a:p>
        </p:txBody>
      </p:sp>
      <p:grpSp>
        <p:nvGrpSpPr>
          <p:cNvPr id="7" name="Group 6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1384358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521000-1559-FB45-8E13-14BF635B0D2F}" type="datetimeFigureOut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7D6A97-8ADF-5E46-BCC6-3EAF5A88A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81375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2521000-1559-FB45-8E13-14BF635B0D2F}" type="datetimeFigureOut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77D6A97-8ADF-5E46-BCC6-3EAF5A88A9E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tx2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377203755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521000-1559-FB45-8E13-14BF635B0D2F}" type="datetimeFigureOut">
              <a:rPr lang="en-US" smtClean="0"/>
              <a:t>3/29/26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7D6A97-8ADF-5E46-BCC6-3EAF5A88A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7260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521000-1559-FB45-8E13-14BF635B0D2F}" type="datetimeFigureOut">
              <a:rPr lang="en-US" smtClean="0"/>
              <a:t>3/29/26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7D6A97-8ADF-5E46-BCC6-3EAF5A88A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8075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521000-1559-FB45-8E13-14BF635B0D2F}" type="datetimeFigureOut">
              <a:rPr lang="en-US" smtClean="0"/>
              <a:t>3/29/26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7D6A97-8ADF-5E46-BCC6-3EAF5A88A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0789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521000-1559-FB45-8E13-14BF635B0D2F}" type="datetimeFigureOut">
              <a:rPr lang="en-US" smtClean="0"/>
              <a:t>3/29/26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7D6A97-8ADF-5E46-BCC6-3EAF5A88A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58553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2521000-1559-FB45-8E13-14BF635B0D2F}" type="datetimeFigureOut">
              <a:rPr lang="en-US" smtClean="0"/>
              <a:t>3/29/26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77D6A97-8ADF-5E46-BCC6-3EAF5A88A9E7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41340555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2521000-1559-FB45-8E13-14BF635B0D2F}" type="datetimeFigureOut">
              <a:rPr lang="en-US" smtClean="0"/>
              <a:t>3/29/26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77D6A97-8ADF-5E46-BCC6-3EAF5A88A9E7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9382109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521000-1559-FB45-8E13-14BF635B0D2F}" type="datetimeFigureOut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7D6A97-8ADF-5E46-BCC6-3EAF5A88A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3448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521000-1559-FB45-8E13-14BF635B0D2F}" type="datetimeFigureOut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7D6A97-8ADF-5E46-BCC6-3EAF5A88A9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83463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62521000-1559-FB45-8E13-14BF635B0D2F}" type="datetimeFigureOut">
              <a:rPr lang="en-US" smtClean="0"/>
              <a:t>3/29/26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077D6A97-8ADF-5E46-BCC6-3EAF5A88A9E7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9146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3CB3F-341E-6552-ADA7-75879C7771A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Project 2: analysis plan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EADBEC-7CA1-4C67-0AE1-7EDACD6F6D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Eduardo Romo</a:t>
            </a:r>
          </a:p>
          <a:p>
            <a:r>
              <a:rPr lang="en-US" dirty="0"/>
              <a:t>March 30, 2026</a:t>
            </a:r>
          </a:p>
        </p:txBody>
      </p:sp>
    </p:spTree>
    <p:extLst>
      <p:ext uri="{BB962C8B-B14F-4D97-AF65-F5344CB8AC3E}">
        <p14:creationId xmlns:p14="http://schemas.microsoft.com/office/powerpoint/2010/main" val="16529130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FB43E-CBD0-5EB6-0199-C9AC0BACB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Research Question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2DAB4-8705-8F4F-5B84-1DE832748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Goal: Understand how inflammation relates to AD progression</a:t>
            </a:r>
          </a:p>
          <a:p>
            <a:r>
              <a:rPr lang="en-US" dirty="0"/>
              <a:t>Aim 1: Evaluate whether peripheral inflammatory markers are associated with one-year change in episodic memory and AD-signature cortical thickness. Hypotheses:</a:t>
            </a:r>
          </a:p>
          <a:p>
            <a:pPr lvl="1"/>
            <a:r>
              <a:rPr lang="en-US" dirty="0"/>
              <a:t>A: higher baseline levels of circulating  cytokines and chemokines are associated with declines in memory and cortical thickness</a:t>
            </a:r>
          </a:p>
          <a:p>
            <a:pPr lvl="1"/>
            <a:r>
              <a:rPr lang="en-US" dirty="0"/>
              <a:t>B: increases in these markers over time are associated with greater declines in these outcomes</a:t>
            </a:r>
          </a:p>
          <a:p>
            <a:r>
              <a:rPr lang="en-US" dirty="0"/>
              <a:t>Aim 2: evaluate whether peripheral inflammation modifies the association between amyloid burden and one-year change in cognition and cortical thickness. Hypothesis</a:t>
            </a:r>
          </a:p>
          <a:p>
            <a:pPr lvl="1"/>
            <a:r>
              <a:rPr lang="en-US" dirty="0"/>
              <a:t>High inflammation + high amyloid leads to greatest decline in cognition and cortical thickness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0709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A75AF-8B94-7654-5E8D-305C9C810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8724E7-DC8E-E26F-1F62-B0204BF20E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Outcomes (change from baseline to year 1)</a:t>
            </a:r>
          </a:p>
          <a:p>
            <a:pPr lvl="1"/>
            <a:r>
              <a:rPr lang="en-US" dirty="0"/>
              <a:t>Episodic memory (CVLT, MST, Benson figure, Story recall)</a:t>
            </a:r>
          </a:p>
          <a:p>
            <a:pPr lvl="1"/>
            <a:r>
              <a:rPr lang="en-US" dirty="0"/>
              <a:t>Cortical thickness (AD-signature regions)</a:t>
            </a:r>
          </a:p>
          <a:p>
            <a:r>
              <a:rPr lang="en-US" dirty="0"/>
              <a:t>Predictors: IL-6, TNF-alpha, MCP-1, Eotaxin-1</a:t>
            </a:r>
          </a:p>
          <a:p>
            <a:r>
              <a:rPr lang="en-US" dirty="0"/>
              <a:t>Key variables (Aim 2): Amyloid deposition (dichotomized for power)</a:t>
            </a:r>
          </a:p>
          <a:p>
            <a:r>
              <a:rPr lang="en-US" dirty="0"/>
              <a:t>Adjustment variables:</a:t>
            </a:r>
          </a:p>
          <a:p>
            <a:pPr lvl="1"/>
            <a:r>
              <a:rPr lang="en-US" dirty="0"/>
              <a:t>Age, sex, baseline outcome</a:t>
            </a:r>
          </a:p>
          <a:p>
            <a:pPr lvl="1"/>
            <a:r>
              <a:rPr lang="en-US" dirty="0"/>
              <a:t>Additional covariates (data driven + sensitivity analyses)</a:t>
            </a:r>
          </a:p>
        </p:txBody>
      </p:sp>
    </p:spTree>
    <p:extLst>
      <p:ext uri="{BB962C8B-B14F-4D97-AF65-F5344CB8AC3E}">
        <p14:creationId xmlns:p14="http://schemas.microsoft.com/office/powerpoint/2010/main" val="39760870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09DC6-F6A2-0A69-9F6A-5A61BD75A0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Aim 1 Analysis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60C87-A5F4-ECA9-2351-75569EF9F2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Linear regression model</a:t>
            </a:r>
          </a:p>
          <a:p>
            <a:r>
              <a:rPr lang="en-US" dirty="0"/>
              <a:t>Two approaches depending on collinearity:</a:t>
            </a:r>
          </a:p>
          <a:p>
            <a:pPr lvl="1"/>
            <a:r>
              <a:rPr lang="en-US" dirty="0"/>
              <a:t>Joint model (all markers)</a:t>
            </a:r>
          </a:p>
          <a:p>
            <a:pPr lvl="1"/>
            <a:r>
              <a:rPr lang="en-US" dirty="0"/>
              <a:t>Separate models (if collinearity high)</a:t>
            </a:r>
          </a:p>
          <a:p>
            <a:r>
              <a:rPr lang="en-US" dirty="0"/>
              <a:t>Covariate adjustment:</a:t>
            </a:r>
          </a:p>
          <a:p>
            <a:pPr lvl="1"/>
            <a:r>
              <a:rPr lang="en-US" dirty="0"/>
              <a:t>Age, sex, baseline outcome (always)</a:t>
            </a:r>
          </a:p>
          <a:p>
            <a:pPr lvl="1"/>
            <a:r>
              <a:rPr lang="en-US" dirty="0"/>
              <a:t>Additional covariates (if relevant)</a:t>
            </a:r>
          </a:p>
          <a:p>
            <a:r>
              <a:rPr lang="en-US" dirty="0"/>
              <a:t>Primary tests:</a:t>
            </a:r>
          </a:p>
          <a:p>
            <a:pPr lvl="1"/>
            <a:r>
              <a:rPr lang="en-US" dirty="0"/>
              <a:t>Joint model ⟶ overall F-test</a:t>
            </a:r>
          </a:p>
          <a:p>
            <a:pPr lvl="1"/>
            <a:r>
              <a:rPr lang="en-US" dirty="0"/>
              <a:t>Separate models ⟶ t-test for marker</a:t>
            </a:r>
          </a:p>
        </p:txBody>
      </p:sp>
    </p:spTree>
    <p:extLst>
      <p:ext uri="{BB962C8B-B14F-4D97-AF65-F5344CB8AC3E}">
        <p14:creationId xmlns:p14="http://schemas.microsoft.com/office/powerpoint/2010/main" val="3342101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88856-BDB0-41C8-41AB-BA7956780B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Aim 1: Power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4D7E4-68D4-DEC1-209C-AD82EB8712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Power estimated using:</a:t>
            </a:r>
          </a:p>
          <a:p>
            <a:pPr lvl="1"/>
            <a:r>
              <a:rPr lang="en-US" dirty="0" err="1"/>
              <a:t>Powertools</a:t>
            </a:r>
            <a:r>
              <a:rPr lang="en-US" dirty="0"/>
              <a:t>::</a:t>
            </a:r>
            <a:r>
              <a:rPr lang="en-US" dirty="0" err="1"/>
              <a:t>mlrF.overall</a:t>
            </a:r>
            <a:r>
              <a:rPr lang="en-US" dirty="0"/>
              <a:t>() (joint models)</a:t>
            </a:r>
          </a:p>
          <a:p>
            <a:pPr lvl="1"/>
            <a:r>
              <a:rPr lang="en-US" dirty="0" err="1"/>
              <a:t>Powertools</a:t>
            </a:r>
            <a:r>
              <a:rPr lang="en-US" dirty="0"/>
              <a:t>::corr.1samp() (separate models)</a:t>
            </a:r>
          </a:p>
          <a:p>
            <a:r>
              <a:rPr lang="en-US" dirty="0"/>
              <a:t>Based on preliminary data: R</a:t>
            </a:r>
            <a:r>
              <a:rPr lang="en-US" baseline="30000" dirty="0"/>
              <a:t>2</a:t>
            </a:r>
            <a:r>
              <a:rPr lang="en-US" dirty="0"/>
              <a:t> ≈ 0.11 – 0.48</a:t>
            </a:r>
          </a:p>
          <a:p>
            <a:r>
              <a:rPr lang="en-US" dirty="0"/>
              <a:t>High power (&gt;90%) for modest effects (R</a:t>
            </a:r>
            <a:r>
              <a:rPr lang="en-US" baseline="30000" dirty="0"/>
              <a:t>2 </a:t>
            </a:r>
            <a:r>
              <a:rPr lang="en-US" dirty="0"/>
              <a:t>≥ 0.10)</a:t>
            </a:r>
          </a:p>
          <a:p>
            <a:r>
              <a:rPr lang="en-US" dirty="0"/>
              <a:t>Separate Models:</a:t>
            </a:r>
          </a:p>
          <a:p>
            <a:pPr lvl="1"/>
            <a:r>
              <a:rPr lang="en-US" dirty="0"/>
              <a:t>Low power for small effects (r = 0.10)</a:t>
            </a:r>
          </a:p>
          <a:p>
            <a:pPr lvl="1"/>
            <a:r>
              <a:rPr lang="en-US" dirty="0"/>
              <a:t>Good power for moderate effects (r ≥ 0.25)</a:t>
            </a:r>
          </a:p>
        </p:txBody>
      </p:sp>
      <p:pic>
        <p:nvPicPr>
          <p:cNvPr id="6" name="Content Placeholder 5" descr="A table with numbers and a few words&#10;&#10;AI-generated content may be incorrect.">
            <a:extLst>
              <a:ext uri="{FF2B5EF4-FFF2-40B4-BE49-F238E27FC236}">
                <a16:creationId xmlns:a16="http://schemas.microsoft.com/office/drawing/2014/main" id="{3E7FE567-8BBF-1C07-EE08-56595993DAB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7602083" y="1257300"/>
            <a:ext cx="3657600" cy="2171700"/>
          </a:xfrm>
        </p:spPr>
      </p:pic>
      <p:pic>
        <p:nvPicPr>
          <p:cNvPr id="8" name="Picture 7" descr="A table with numbers and symbols&#10;&#10;AI-generated content may be incorrect.">
            <a:extLst>
              <a:ext uri="{FF2B5EF4-FFF2-40B4-BE49-F238E27FC236}">
                <a16:creationId xmlns:a16="http://schemas.microsoft.com/office/drawing/2014/main" id="{903AAE6D-3344-576D-5B8D-4FDE12F8F9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02083" y="4000500"/>
            <a:ext cx="3594100" cy="242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9853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865784-3429-3695-A21D-4E6580CBE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Aim 2: Analysis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2B86E5-4F25-9B84-E08B-8CDC0181BD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Linear regression model with interaction</a:t>
            </a:r>
          </a:p>
          <a:p>
            <a:r>
              <a:rPr lang="en-US" dirty="0"/>
              <a:t>Primary test: interaction terms</a:t>
            </a:r>
          </a:p>
          <a:p>
            <a:r>
              <a:rPr lang="en-US" dirty="0"/>
              <a:t>Covariates: Age, sex, baseline outcome</a:t>
            </a:r>
          </a:p>
          <a:p>
            <a:r>
              <a:rPr lang="en-US" dirty="0"/>
              <a:t>Optional: joint interaction models if low collinearity</a:t>
            </a:r>
          </a:p>
        </p:txBody>
      </p:sp>
    </p:spTree>
    <p:extLst>
      <p:ext uri="{BB962C8B-B14F-4D97-AF65-F5344CB8AC3E}">
        <p14:creationId xmlns:p14="http://schemas.microsoft.com/office/powerpoint/2010/main" val="22251502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341A1-4FEB-2658-7427-46172843BF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Aim 2 Power &amp; Type 1 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C70F0F-D0DF-4D9A-8957-B04518E2A9B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Used </a:t>
            </a:r>
            <a:r>
              <a:rPr lang="en-US" dirty="0" err="1"/>
              <a:t>powertools</a:t>
            </a:r>
            <a:r>
              <a:rPr lang="en-US" dirty="0"/>
              <a:t>::corr.2samp</a:t>
            </a:r>
          </a:p>
          <a:p>
            <a:r>
              <a:rPr lang="en-US" dirty="0"/>
              <a:t>Power results:</a:t>
            </a:r>
          </a:p>
          <a:p>
            <a:pPr lvl="1"/>
            <a:r>
              <a:rPr lang="en-US" dirty="0"/>
              <a:t>Low power for small effects (</a:t>
            </a:r>
            <a:r>
              <a:rPr lang="en-US" dirty="0" err="1"/>
              <a:t>Δρ</a:t>
            </a:r>
            <a:r>
              <a:rPr lang="en-US" dirty="0"/>
              <a:t> = 0.01)</a:t>
            </a:r>
          </a:p>
          <a:p>
            <a:pPr lvl="1"/>
            <a:r>
              <a:rPr lang="en-US" dirty="0"/>
              <a:t>Good power for moderate/large effects (</a:t>
            </a:r>
            <a:r>
              <a:rPr lang="en-US" dirty="0" err="1"/>
              <a:t>Δρ</a:t>
            </a:r>
            <a:r>
              <a:rPr lang="en-US" dirty="0"/>
              <a:t> ≥ 0.3-0.4)</a:t>
            </a:r>
          </a:p>
          <a:p>
            <a:pPr lvl="1"/>
            <a:r>
              <a:rPr lang="en-US" dirty="0"/>
              <a:t>More balanced groups ⟶ higher power</a:t>
            </a:r>
          </a:p>
          <a:p>
            <a:r>
              <a:rPr lang="en-US" dirty="0"/>
              <a:t>Type 1 Error (for both Aims)</a:t>
            </a:r>
          </a:p>
          <a:p>
            <a:pPr lvl="1"/>
            <a:r>
              <a:rPr lang="en-US" dirty="0"/>
              <a:t>Controlled FWER at 0.05</a:t>
            </a:r>
          </a:p>
          <a:p>
            <a:pPr lvl="1"/>
            <a:r>
              <a:rPr lang="en-US" dirty="0"/>
              <a:t>Two outcome domains: memory and cortical thickness</a:t>
            </a:r>
          </a:p>
          <a:p>
            <a:pPr lvl="1"/>
            <a:r>
              <a:rPr lang="en-US" dirty="0"/>
              <a:t>Bonferroni: ⍺ = 0.025 per domain </a:t>
            </a:r>
          </a:p>
        </p:txBody>
      </p:sp>
      <p:pic>
        <p:nvPicPr>
          <p:cNvPr id="6" name="Content Placeholder 5" descr="A table with numbers and a few black text&#10;&#10;AI-generated content may be incorrect.">
            <a:extLst>
              <a:ext uri="{FF2B5EF4-FFF2-40B4-BE49-F238E27FC236}">
                <a16:creationId xmlns:a16="http://schemas.microsoft.com/office/drawing/2014/main" id="{314218E1-9AEF-3128-C4A3-81BE70B3E82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5987828" y="3052899"/>
            <a:ext cx="6096000" cy="2047600"/>
          </a:xfrm>
        </p:spPr>
      </p:pic>
    </p:spTree>
    <p:extLst>
      <p:ext uri="{BB962C8B-B14F-4D97-AF65-F5344CB8AC3E}">
        <p14:creationId xmlns:p14="http://schemas.microsoft.com/office/powerpoint/2010/main" val="1624749276"/>
      </p:ext>
    </p:extLst>
  </p:cSld>
  <p:clrMapOvr>
    <a:masterClrMapping/>
  </p:clrMapOvr>
</p:sld>
</file>

<file path=ppt/theme/theme1.xml><?xml version="1.0" encoding="utf-8"?>
<a:theme xmlns:a="http://schemas.openxmlformats.org/drawingml/2006/main" name="Crop">
  <a:themeElements>
    <a:clrScheme name="Crop">
      <a:dk1>
        <a:sysClr val="windowText" lastClr="000000"/>
      </a:dk1>
      <a:lt1>
        <a:sysClr val="window" lastClr="FFFFFF"/>
      </a:lt1>
      <a:dk2>
        <a:srgbClr val="191B0E"/>
      </a:dk2>
      <a:lt2>
        <a:srgbClr val="EFEDE3"/>
      </a:lt2>
      <a:accent1>
        <a:srgbClr val="8C8D86"/>
      </a:accent1>
      <a:accent2>
        <a:srgbClr val="E6C069"/>
      </a:accent2>
      <a:accent3>
        <a:srgbClr val="897B61"/>
      </a:accent3>
      <a:accent4>
        <a:srgbClr val="8DAB8E"/>
      </a:accent4>
      <a:accent5>
        <a:srgbClr val="77A2BB"/>
      </a:accent5>
      <a:accent6>
        <a:srgbClr val="E28394"/>
      </a:accent6>
      <a:hlink>
        <a:srgbClr val="77A2BB"/>
      </a:hlink>
      <a:folHlink>
        <a:srgbClr val="957A99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CE19780C-D67D-4C13-9DE9-A52BC3BA51B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Crop</Template>
  <TotalTime>277</TotalTime>
  <Words>423</Words>
  <Application>Microsoft Macintosh PowerPoint</Application>
  <PresentationFormat>Widescreen</PresentationFormat>
  <Paragraphs>54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Franklin Gothic Book</vt:lpstr>
      <vt:lpstr>Crop</vt:lpstr>
      <vt:lpstr>Project 2: analysis plan</vt:lpstr>
      <vt:lpstr>Research Question Overview</vt:lpstr>
      <vt:lpstr>Data Overview</vt:lpstr>
      <vt:lpstr>Aim 1 Analysis Plan</vt:lpstr>
      <vt:lpstr>Aim 1: Power Analysis</vt:lpstr>
      <vt:lpstr>Aim 2: Analysis Plan</vt:lpstr>
      <vt:lpstr>Aim 2 Power &amp; Type 1 Error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Romo, Eduardo</dc:creator>
  <cp:lastModifiedBy>Romo, Eduardo</cp:lastModifiedBy>
  <cp:revision>1</cp:revision>
  <dcterms:created xsi:type="dcterms:W3CDTF">2026-03-29T20:17:04Z</dcterms:created>
  <dcterms:modified xsi:type="dcterms:W3CDTF">2026-03-30T00:55:03Z</dcterms:modified>
</cp:coreProperties>
</file>