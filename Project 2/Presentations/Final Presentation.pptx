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77454"/>
  </p:normalViewPr>
  <p:slideViewPr>
    <p:cSldViewPr snapToGrid="0">
      <p:cViewPr varScale="1">
        <p:scale>
          <a:sx n="85" d="100"/>
          <a:sy n="85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8DC78-304C-004D-927E-7D71B41883F8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ABF1F-498D-B84A-9DCB-6EE62C4C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today I’ll be presenting my analysis plan and power calculations for Project 2.</a:t>
            </a:r>
            <a:br>
              <a:rPr lang="en-US" dirty="0"/>
            </a:br>
            <a:r>
              <a:rPr lang="en-US" dirty="0"/>
              <a:t>This project focuses on understanding how inflammation relates to Alzheimer’s disease progression, specifically through changes in cognition and brain structure over one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ABF1F-498D-B84A-9DCB-6EE62C4CA8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07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goal of this study is to understand how peripheral inflammation is related to Alzheimer’s disease progression.</a:t>
            </a:r>
          </a:p>
          <a:p>
            <a:r>
              <a:rPr lang="en-US" dirty="0"/>
              <a:t>In Aim 1, we’re looking at whether inflammatory markers are associated with one-year changes in two key outcomes: episodic memory and cortical thickness.</a:t>
            </a:r>
            <a:br>
              <a:rPr lang="en-US" dirty="0"/>
            </a:br>
            <a:r>
              <a:rPr lang="en-US" dirty="0"/>
              <a:t>There are two hypotheses here: first, that higher baseline inflammation is associated with greater decline, and second, that increases in inflammation over time are also associated with greater decline.</a:t>
            </a:r>
          </a:p>
          <a:p>
            <a:r>
              <a:rPr lang="en-US" dirty="0"/>
              <a:t>In Aim 2, we move beyond association and ask whether inflammation modifies the relationship between amyloid burden and these same outcomes.</a:t>
            </a:r>
            <a:br>
              <a:rPr lang="en-US" dirty="0"/>
            </a:br>
            <a:r>
              <a:rPr lang="en-US" dirty="0"/>
              <a:t>The hypothesis is that individuals with both high inflammation and high amyloid will experience the greatest decline.</a:t>
            </a:r>
          </a:p>
          <a:p>
            <a:r>
              <a:rPr lang="en-US" dirty="0"/>
              <a:t>So overall, Aim 1 is about main effects, and Aim 2 is about interaction or effect modification.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ABF1F-498D-B84A-9DCB-6EE62C4CA8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0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data, all outcomes are defined as change from baseline to one year.</a:t>
            </a:r>
          </a:p>
          <a:p>
            <a:r>
              <a:rPr lang="en-US" dirty="0"/>
              <a:t>We have episodic memory outcomes, including measures like CVLT and the Mnemonic Similarity Task, and we also have cortical thickness in AD-signature brain regions.</a:t>
            </a:r>
          </a:p>
          <a:p>
            <a:r>
              <a:rPr lang="en-US" dirty="0"/>
              <a:t>The main predictors are four inflammatory markers: IL-6, TNF-alpha, MCP-1, and Eotaxin-1.</a:t>
            </a:r>
          </a:p>
          <a:p>
            <a:r>
              <a:rPr lang="en-US" dirty="0"/>
              <a:t>For Aim 2, we also include amyloid deposition, which is dichotomized for the power analysis.</a:t>
            </a:r>
          </a:p>
          <a:p>
            <a:r>
              <a:rPr lang="en-US" dirty="0"/>
              <a:t>All models will adjust for age, sex, and baseline outcome values.</a:t>
            </a:r>
            <a:br>
              <a:rPr lang="en-US" dirty="0"/>
            </a:br>
            <a:r>
              <a:rPr lang="en-US" dirty="0"/>
              <a:t>We’ll also consider additional covariates based on their associations with predictors and outcomes, and assess their impact in sensitivity analyses.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ABF1F-498D-B84A-9DCB-6EE62C4CA8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80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Aim 1, we will use linear regression models.</a:t>
            </a:r>
          </a:p>
          <a:p>
            <a:r>
              <a:rPr lang="en-US" dirty="0"/>
              <a:t>There are two possible modeling approaches depending on collinearity among the inflammatory markers.</a:t>
            </a:r>
            <a:br>
              <a:rPr lang="en-US" dirty="0"/>
            </a:br>
            <a:r>
              <a:rPr lang="en-US" dirty="0"/>
              <a:t>If collinearity is acceptable, we include all four markers in a joint model.</a:t>
            </a:r>
            <a:br>
              <a:rPr lang="en-US" dirty="0"/>
            </a:br>
            <a:r>
              <a:rPr lang="en-US" dirty="0"/>
              <a:t>If not, we fit separate models for each marker.</a:t>
            </a:r>
          </a:p>
          <a:p>
            <a:r>
              <a:rPr lang="en-US" dirty="0"/>
              <a:t>All models adjust for age, sex, and baseline outcome, with additional covariates included as needed.</a:t>
            </a:r>
          </a:p>
          <a:p>
            <a:r>
              <a:rPr lang="en-US" dirty="0"/>
              <a:t>The primary hypothesis test depends on the model structure:</a:t>
            </a:r>
          </a:p>
          <a:p>
            <a:r>
              <a:rPr lang="en-US" dirty="0"/>
              <a:t>In the joint model, we use an overall F-test to assess the combined effect of the markers.</a:t>
            </a:r>
          </a:p>
          <a:p>
            <a:r>
              <a:rPr lang="en-US" dirty="0"/>
              <a:t>In separate models, we use t-tests for each marker coefficient.</a:t>
            </a:r>
          </a:p>
          <a:p>
            <a:r>
              <a:rPr lang="en-US" dirty="0"/>
              <a:t>So the key decision here is whether we can model all markers together or need to analyze them individually.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ABF1F-498D-B84A-9DCB-6EE62C4CA8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72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Aim 1, power was evaluated using the </a:t>
            </a:r>
            <a:r>
              <a:rPr lang="en-US" dirty="0" err="1"/>
              <a:t>powertools</a:t>
            </a:r>
            <a:r>
              <a:rPr lang="en-US" dirty="0"/>
              <a:t> package.</a:t>
            </a:r>
          </a:p>
          <a:p>
            <a:r>
              <a:rPr lang="en-US" dirty="0"/>
              <a:t>For joint models, we used the function </a:t>
            </a:r>
            <a:r>
              <a:rPr lang="en-US" dirty="0" err="1"/>
              <a:t>mlrF.overall</a:t>
            </a:r>
            <a:r>
              <a:rPr lang="en-US" dirty="0"/>
              <a:t>, which corresponds to the overall F-test.</a:t>
            </a:r>
            <a:br>
              <a:rPr lang="en-US" dirty="0"/>
            </a:br>
            <a:r>
              <a:rPr lang="en-US" dirty="0"/>
              <a:t>For separate models, we used corr.1samp, which corresponds to testing a nonzero correlation.</a:t>
            </a:r>
          </a:p>
          <a:p>
            <a:r>
              <a:rPr lang="en-US" dirty="0"/>
              <a:t>These calculations were based on preliminary data, which suggested R-squared values between about 0.11 and 0.48.</a:t>
            </a:r>
          </a:p>
          <a:p>
            <a:r>
              <a:rPr lang="en-US" dirty="0"/>
              <a:t>From the results, we see that power is very high for modest effect sizes — over 90% even at R-squared of 0.10, and essentially 100% for larger effects.</a:t>
            </a:r>
          </a:p>
          <a:p>
            <a:r>
              <a:rPr lang="en-US" dirty="0"/>
              <a:t>For separate models, power is low for small effects — for example, only about 18% when the correlation is 0.10 — but increases quickly, reaching about 87% at correlation 0.25.</a:t>
            </a:r>
          </a:p>
          <a:p>
            <a:r>
              <a:rPr lang="en-US" dirty="0"/>
              <a:t>So overall, the study is well powered to detect moderate to large associations, but may miss small effects.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ABF1F-498D-B84A-9DCB-6EE62C4CA8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9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Aim 2, we again use linear regression, but now include an interaction term.</a:t>
            </a:r>
          </a:p>
          <a:p>
            <a:r>
              <a:rPr lang="en-US" dirty="0"/>
              <a:t>Each model includes the inflammatory marker, amyloid deposition, and their interaction, along with baseline outcome, age, and sex.</a:t>
            </a:r>
          </a:p>
          <a:p>
            <a:r>
              <a:rPr lang="en-US" dirty="0"/>
              <a:t>The primary test here is the interaction term — this tells us whether the effect of inflammation differs depending on amyloid status.</a:t>
            </a:r>
          </a:p>
          <a:p>
            <a:r>
              <a:rPr lang="en-US" dirty="0"/>
              <a:t>If collinearity is low, we may also fit models including all markers and their interactions, and use a joint test for those interaction effects.</a:t>
            </a:r>
          </a:p>
          <a:p>
            <a:r>
              <a:rPr lang="en-US" dirty="0"/>
              <a:t>So compared to Aim 1, the key difference is that we’re now testing effect modification rather than just association.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ABF1F-498D-B84A-9DCB-6EE62C4CA8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08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Aim 2, power was estimated using corr.2samp, which tests for differences in correlation between two groups — in this case, low versus high amyloid.</a:t>
            </a:r>
          </a:p>
          <a:p>
            <a:r>
              <a:rPr lang="en-US" dirty="0"/>
              <a:t>This serves as an approximation to the interaction test, since we don’t have preliminary data on amyloid.</a:t>
            </a:r>
          </a:p>
          <a:p>
            <a:r>
              <a:rPr lang="en-US" dirty="0"/>
              <a:t>From the results, power is very low for small differences in correlation — around 6 to 10 percent when the difference is 0.1.</a:t>
            </a:r>
          </a:p>
          <a:p>
            <a:r>
              <a:rPr lang="en-US" dirty="0"/>
              <a:t>For moderate differences, power is still somewhat limited, but increases substantially for larger effects.</a:t>
            </a:r>
            <a:br>
              <a:rPr lang="en-US" dirty="0"/>
            </a:br>
            <a:r>
              <a:rPr lang="en-US" dirty="0"/>
              <a:t>For example, when the difference is 0.4, power exceeds 50% in balanced groups, and for differences of 0.5, it exceeds 90% in most scenarios.</a:t>
            </a:r>
          </a:p>
          <a:p>
            <a:r>
              <a:rPr lang="en-US" dirty="0"/>
              <a:t>We also see that more balanced group sizes lead to higher power.</a:t>
            </a:r>
          </a:p>
          <a:p>
            <a:r>
              <a:rPr lang="en-US" dirty="0"/>
              <a:t>So overall, the study is well powered to detect moderate to large interaction effects, but not small ones.</a:t>
            </a:r>
          </a:p>
          <a:p>
            <a:r>
              <a:rPr lang="en-US" dirty="0"/>
              <a:t>Finally, to control Type I error across multiple outcomes, we used a Bonferroni approach.</a:t>
            </a:r>
            <a:br>
              <a:rPr lang="en-US" dirty="0"/>
            </a:br>
            <a:r>
              <a:rPr lang="en-US" dirty="0"/>
              <a:t>We defined two outcome domains — memory and cortical thickness — and set alpha to 0.025 for each domain, while interpreting results within each domain collectively.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ABF1F-498D-B84A-9DCB-6EE62C4CA8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9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384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3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77203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6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07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7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55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3405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821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4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46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2521000-1559-FB45-8E13-14BF635B0D2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77D6A97-8ADF-5E46-BCC6-3EAF5A88A9E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4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CB3F-341E-6552-ADA7-75879C7771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2: analysis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ADBEC-7CA1-4C67-0AE1-7EDACD6F6D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Eduardo Romo</a:t>
            </a:r>
          </a:p>
          <a:p>
            <a:r>
              <a:rPr lang="en-US" dirty="0"/>
              <a:t>March 30, 2026</a:t>
            </a:r>
          </a:p>
        </p:txBody>
      </p:sp>
    </p:spTree>
    <p:extLst>
      <p:ext uri="{BB962C8B-B14F-4D97-AF65-F5344CB8AC3E}">
        <p14:creationId xmlns:p14="http://schemas.microsoft.com/office/powerpoint/2010/main" val="165291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B43E-CBD0-5EB6-0199-C9AC0BAC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2DAB4-8705-8F4F-5B84-1DE832748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Goal: Understand how inflammation relates to AD progression</a:t>
            </a:r>
          </a:p>
          <a:p>
            <a:r>
              <a:rPr lang="en-US" dirty="0"/>
              <a:t>Aim 1: Evaluate whether peripheral inflammatory markers are associated with one-year change in episodic memory and AD-signature cortical thickness. Hypotheses:</a:t>
            </a:r>
          </a:p>
          <a:p>
            <a:pPr lvl="1"/>
            <a:r>
              <a:rPr lang="en-US" dirty="0"/>
              <a:t>A: higher baseline levels of circulating  cytokines and chemokines are associated with declines in memory and cortical thickness</a:t>
            </a:r>
          </a:p>
          <a:p>
            <a:pPr lvl="1"/>
            <a:r>
              <a:rPr lang="en-US" dirty="0"/>
              <a:t>B: increases in these markers over time are associated with greater declines in these outcomes</a:t>
            </a:r>
          </a:p>
          <a:p>
            <a:r>
              <a:rPr lang="en-US" dirty="0"/>
              <a:t>Aim 2: evaluate whether peripheral inflammation modifies the association between amyloid burden and one-year change in cognition and cortical thickness. Hypothesis</a:t>
            </a:r>
          </a:p>
          <a:p>
            <a:pPr lvl="1"/>
            <a:r>
              <a:rPr lang="en-US" dirty="0"/>
              <a:t>High inflammation + high amyloid leads to greatest decline in cognition and cortical thickness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7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75AF-8B94-7654-5E8D-305C9C81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24E7-DC8E-E26F-1F62-B0204BF20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Outcomes (change from baseline to year 1)</a:t>
            </a:r>
          </a:p>
          <a:p>
            <a:pPr lvl="1"/>
            <a:r>
              <a:rPr lang="en-US" dirty="0"/>
              <a:t>Episodic memory (CVLT, MST, Benson figure, Story recall)</a:t>
            </a:r>
          </a:p>
          <a:p>
            <a:pPr lvl="1"/>
            <a:r>
              <a:rPr lang="en-US" dirty="0"/>
              <a:t>Cortical thickness (AD-signature regions)</a:t>
            </a:r>
          </a:p>
          <a:p>
            <a:r>
              <a:rPr lang="en-US" dirty="0"/>
              <a:t>Predictors: IL-6, TNF-alpha, MCP-1, Eotaxin-1</a:t>
            </a:r>
          </a:p>
          <a:p>
            <a:r>
              <a:rPr lang="en-US" dirty="0"/>
              <a:t>Key variables (Aim 2): Amyloid deposition (dichotomized for power)</a:t>
            </a:r>
          </a:p>
          <a:p>
            <a:r>
              <a:rPr lang="en-US" dirty="0"/>
              <a:t>Adjustment variables:</a:t>
            </a:r>
          </a:p>
          <a:p>
            <a:pPr lvl="1"/>
            <a:r>
              <a:rPr lang="en-US" dirty="0"/>
              <a:t>Age, sex, baseline outcome</a:t>
            </a:r>
          </a:p>
          <a:p>
            <a:pPr lvl="1"/>
            <a:r>
              <a:rPr lang="en-US" dirty="0"/>
              <a:t>Additional covariates (data driven + sensitivity analyses)</a:t>
            </a:r>
          </a:p>
        </p:txBody>
      </p:sp>
    </p:spTree>
    <p:extLst>
      <p:ext uri="{BB962C8B-B14F-4D97-AF65-F5344CB8AC3E}">
        <p14:creationId xmlns:p14="http://schemas.microsoft.com/office/powerpoint/2010/main" val="3976087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9DC6-F6A2-0A69-9F6A-5A61BD75A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1 Analysis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60C87-A5F4-ECA9-2351-75569EF9F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Linear regression model</a:t>
            </a:r>
          </a:p>
          <a:p>
            <a:r>
              <a:rPr lang="en-US" dirty="0"/>
              <a:t>Two approaches depending on collinearity:</a:t>
            </a:r>
          </a:p>
          <a:p>
            <a:pPr lvl="1"/>
            <a:r>
              <a:rPr lang="en-US" dirty="0"/>
              <a:t>Joint model (all markers)</a:t>
            </a:r>
          </a:p>
          <a:p>
            <a:pPr lvl="1"/>
            <a:r>
              <a:rPr lang="en-US" dirty="0"/>
              <a:t>Separate models (if collinearity high)</a:t>
            </a:r>
          </a:p>
          <a:p>
            <a:r>
              <a:rPr lang="en-US" dirty="0"/>
              <a:t>Covariate adjustment:</a:t>
            </a:r>
          </a:p>
          <a:p>
            <a:pPr lvl="1"/>
            <a:r>
              <a:rPr lang="en-US" dirty="0"/>
              <a:t>Age, sex, baseline outcome (always)</a:t>
            </a:r>
          </a:p>
          <a:p>
            <a:pPr lvl="1"/>
            <a:r>
              <a:rPr lang="en-US" dirty="0"/>
              <a:t>Additional covariates (if relevant)</a:t>
            </a:r>
          </a:p>
          <a:p>
            <a:r>
              <a:rPr lang="en-US" dirty="0"/>
              <a:t>Primary tests:</a:t>
            </a:r>
          </a:p>
          <a:p>
            <a:pPr lvl="1"/>
            <a:r>
              <a:rPr lang="en-US" dirty="0"/>
              <a:t>Joint model ⟶ overall F-test</a:t>
            </a:r>
          </a:p>
          <a:p>
            <a:pPr lvl="1"/>
            <a:r>
              <a:rPr lang="en-US" dirty="0"/>
              <a:t>Separate models ⟶ t-test for marker</a:t>
            </a:r>
          </a:p>
        </p:txBody>
      </p:sp>
    </p:spTree>
    <p:extLst>
      <p:ext uri="{BB962C8B-B14F-4D97-AF65-F5344CB8AC3E}">
        <p14:creationId xmlns:p14="http://schemas.microsoft.com/office/powerpoint/2010/main" val="33421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8856-BDB0-41C8-41AB-BA795678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1: Power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4D7E4-68D4-DEC1-209C-AD82EB8712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Power estimated using:</a:t>
            </a:r>
          </a:p>
          <a:p>
            <a:pPr lvl="1"/>
            <a:r>
              <a:rPr lang="en-US" dirty="0" err="1"/>
              <a:t>Powertools</a:t>
            </a:r>
            <a:r>
              <a:rPr lang="en-US" dirty="0"/>
              <a:t>::</a:t>
            </a:r>
            <a:r>
              <a:rPr lang="en-US" dirty="0" err="1"/>
              <a:t>mlrF.overall</a:t>
            </a:r>
            <a:r>
              <a:rPr lang="en-US" dirty="0"/>
              <a:t>() (joint models)</a:t>
            </a:r>
          </a:p>
          <a:p>
            <a:pPr lvl="1"/>
            <a:r>
              <a:rPr lang="en-US" dirty="0" err="1"/>
              <a:t>Powertools</a:t>
            </a:r>
            <a:r>
              <a:rPr lang="en-US" dirty="0"/>
              <a:t>::corr.1samp() (separate models)</a:t>
            </a:r>
          </a:p>
          <a:p>
            <a:r>
              <a:rPr lang="en-US" dirty="0"/>
              <a:t>Based on preliminary data: R</a:t>
            </a:r>
            <a:r>
              <a:rPr lang="en-US" baseline="30000" dirty="0"/>
              <a:t>2</a:t>
            </a:r>
            <a:r>
              <a:rPr lang="en-US" dirty="0"/>
              <a:t> ≈ 0.11 – 0.48</a:t>
            </a:r>
          </a:p>
          <a:p>
            <a:r>
              <a:rPr lang="en-US" dirty="0"/>
              <a:t>High power (&gt;90%) for modest effects (R</a:t>
            </a:r>
            <a:r>
              <a:rPr lang="en-US" baseline="30000" dirty="0"/>
              <a:t>2 </a:t>
            </a:r>
            <a:r>
              <a:rPr lang="en-US" dirty="0"/>
              <a:t>≥ 0.10)</a:t>
            </a:r>
          </a:p>
          <a:p>
            <a:r>
              <a:rPr lang="en-US" dirty="0"/>
              <a:t>Separate Models:</a:t>
            </a:r>
          </a:p>
          <a:p>
            <a:pPr lvl="1"/>
            <a:r>
              <a:rPr lang="en-US" dirty="0"/>
              <a:t>Low power for small effects (r = 0.10)</a:t>
            </a:r>
          </a:p>
          <a:p>
            <a:pPr lvl="1"/>
            <a:r>
              <a:rPr lang="en-US" dirty="0"/>
              <a:t>Good power for moderate effects (r ≥ 0.25)</a:t>
            </a:r>
          </a:p>
        </p:txBody>
      </p:sp>
      <p:pic>
        <p:nvPicPr>
          <p:cNvPr id="6" name="Content Placeholder 5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3E7FE567-8BBF-1C07-EE08-56595993DA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02083" y="1257300"/>
            <a:ext cx="3657600" cy="2171700"/>
          </a:xfrm>
        </p:spPr>
      </p:pic>
      <p:pic>
        <p:nvPicPr>
          <p:cNvPr id="8" name="Picture 7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903AAE6D-3344-576D-5B8D-4FDE12F8F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083" y="4000500"/>
            <a:ext cx="35941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53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65784-3429-3695-A21D-4E6580CB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2: Analysis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B86E5-4F25-9B84-E08B-8CDC0181B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model with interaction</a:t>
            </a:r>
          </a:p>
          <a:p>
            <a:r>
              <a:rPr lang="en-US" dirty="0"/>
              <a:t>Primary test: interaction terms</a:t>
            </a:r>
          </a:p>
          <a:p>
            <a:r>
              <a:rPr lang="en-US" dirty="0"/>
              <a:t>Covariates: Age, sex, baseline outcome</a:t>
            </a:r>
          </a:p>
          <a:p>
            <a:r>
              <a:rPr lang="en-US" dirty="0"/>
              <a:t>Optional: joint interaction models if low collinearity</a:t>
            </a:r>
          </a:p>
        </p:txBody>
      </p:sp>
    </p:spTree>
    <p:extLst>
      <p:ext uri="{BB962C8B-B14F-4D97-AF65-F5344CB8AC3E}">
        <p14:creationId xmlns:p14="http://schemas.microsoft.com/office/powerpoint/2010/main" val="222515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41A1-4FEB-2658-7427-46172843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2 Power &amp; Type 1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70F0F-D0DF-4D9A-8957-B04518E2A9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Used </a:t>
            </a:r>
            <a:r>
              <a:rPr lang="en-US" dirty="0" err="1"/>
              <a:t>powertools</a:t>
            </a:r>
            <a:r>
              <a:rPr lang="en-US" dirty="0"/>
              <a:t>::corr.2samp</a:t>
            </a:r>
          </a:p>
          <a:p>
            <a:r>
              <a:rPr lang="en-US" dirty="0"/>
              <a:t>Power results:</a:t>
            </a:r>
          </a:p>
          <a:p>
            <a:pPr lvl="1"/>
            <a:r>
              <a:rPr lang="en-US" dirty="0"/>
              <a:t>Low power for small effects (</a:t>
            </a:r>
            <a:r>
              <a:rPr lang="en-US" dirty="0" err="1"/>
              <a:t>Δρ</a:t>
            </a:r>
            <a:r>
              <a:rPr lang="en-US" dirty="0"/>
              <a:t> = 0.01)</a:t>
            </a:r>
          </a:p>
          <a:p>
            <a:pPr lvl="1"/>
            <a:r>
              <a:rPr lang="en-US" dirty="0"/>
              <a:t>Good power for moderate/large effects (</a:t>
            </a:r>
            <a:r>
              <a:rPr lang="en-US" dirty="0" err="1"/>
              <a:t>Δρ</a:t>
            </a:r>
            <a:r>
              <a:rPr lang="en-US" dirty="0"/>
              <a:t> ≥ 0.3-0.4)</a:t>
            </a:r>
          </a:p>
          <a:p>
            <a:pPr lvl="1"/>
            <a:r>
              <a:rPr lang="en-US" dirty="0"/>
              <a:t>More balanced groups ⟶ higher power</a:t>
            </a:r>
          </a:p>
          <a:p>
            <a:r>
              <a:rPr lang="en-US" dirty="0"/>
              <a:t>Type 1 Error (for both Aims)</a:t>
            </a:r>
          </a:p>
          <a:p>
            <a:pPr lvl="1"/>
            <a:r>
              <a:rPr lang="en-US" dirty="0"/>
              <a:t>Controlled FWER at 0.05</a:t>
            </a:r>
          </a:p>
          <a:p>
            <a:pPr lvl="1"/>
            <a:r>
              <a:rPr lang="en-US" dirty="0"/>
              <a:t>Two outcome domains: memory and cortical thickness</a:t>
            </a:r>
          </a:p>
          <a:p>
            <a:pPr lvl="1"/>
            <a:r>
              <a:rPr lang="en-US" dirty="0"/>
              <a:t>Bonferroni: ⍺ = 0.025 per domain </a:t>
            </a:r>
          </a:p>
        </p:txBody>
      </p:sp>
      <p:pic>
        <p:nvPicPr>
          <p:cNvPr id="10" name="Content Placeholder 9" descr="A table with numbers and a black text&#10;&#10;AI-generated content may be incorrect.">
            <a:extLst>
              <a:ext uri="{FF2B5EF4-FFF2-40B4-BE49-F238E27FC236}">
                <a16:creationId xmlns:a16="http://schemas.microsoft.com/office/drawing/2014/main" id="{383EC132-C633-35B3-BE55-F9EFE3C28C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93077" y="3024852"/>
            <a:ext cx="6298923" cy="2103693"/>
          </a:xfrm>
        </p:spPr>
      </p:pic>
    </p:spTree>
    <p:extLst>
      <p:ext uri="{BB962C8B-B14F-4D97-AF65-F5344CB8AC3E}">
        <p14:creationId xmlns:p14="http://schemas.microsoft.com/office/powerpoint/2010/main" val="162474927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484</TotalTime>
  <Words>1337</Words>
  <Application>Microsoft Macintosh PowerPoint</Application>
  <PresentationFormat>Widescreen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Franklin Gothic Book</vt:lpstr>
      <vt:lpstr>Crop</vt:lpstr>
      <vt:lpstr>Project 2: analysis plan</vt:lpstr>
      <vt:lpstr>Research Question Overview</vt:lpstr>
      <vt:lpstr>Data Overview</vt:lpstr>
      <vt:lpstr>Aim 1 Analysis Plan</vt:lpstr>
      <vt:lpstr>Aim 1: Power Analysis</vt:lpstr>
      <vt:lpstr>Aim 2: Analysis Plan</vt:lpstr>
      <vt:lpstr>Aim 2 Power &amp; Type 1 Error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Romo, Eduardo</dc:creator>
  <cp:lastModifiedBy>Romo, Eduardo</cp:lastModifiedBy>
  <cp:revision>3</cp:revision>
  <dcterms:created xsi:type="dcterms:W3CDTF">2026-03-29T20:17:04Z</dcterms:created>
  <dcterms:modified xsi:type="dcterms:W3CDTF">2026-03-30T16:16:59Z</dcterms:modified>
</cp:coreProperties>
</file>