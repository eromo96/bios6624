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F520-EF2A-FB39-317B-F37A6C5FD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23A62-46D7-C387-1C6C-FB6BF8B98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3512B-3FA2-8EC0-B4B9-9EC53638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EA59-C0B2-5AB2-D50C-C510FE81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2E5F2-8F0A-6BC8-3540-2B3E14DD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9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A8D0-F155-0B51-ABBA-F9791B61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CCEB-0D8C-5986-7529-F7FB9DD3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8EC0C-88F8-9281-C199-26838CDA8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FE43B-0567-6F7E-7AE5-D190CADA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E0673-766D-FC21-B436-6BE45CA4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E32F-D96D-4E82-94D4-1447E110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B46E1-67DD-A525-CCBF-B422D3FB6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DC05-7E41-54C3-DC49-C1E26DE4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B1697-FAFF-4D39-2C89-72B8C598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0F1E7-9685-7C2B-BC87-6396E606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E872-5330-A38F-7DA7-8F669830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93016-98EE-030C-3A69-B4FC7004F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52871-441F-6932-D68E-07718A1A0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D7B3F-45E8-171F-161F-B914DDF4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362BD-16A2-A426-4DF0-7EC74306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989F4-5F43-8E5E-6B58-39FC884B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6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A028-6933-ED21-699D-64A8C75A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E6602-C7B0-97F4-024E-43CF8DCF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2219-D71B-D079-96F4-AB5F54B45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2CE99-4EE6-F963-740F-695331F45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E1F01-C4E5-205B-FA1A-0A89F6233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C74A95-A8CC-F599-50E8-2E60B6E7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6FF245-A0DE-56E0-E883-62A03FF0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1E7CA-F7BB-925A-587E-CA43D0C5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7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1E62-07DC-90F2-1680-9C638A82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07268-F9DD-36D7-BA4F-1FFCEA33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A3E1C-5136-AC0E-EE97-0E404741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28337-AB0A-85E0-5E0F-AA36905E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1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2DDC96-4003-2DFF-A458-E04586DB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A3C24-3FB4-7E09-784E-7070DC90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A5B0A-F81A-F9AF-BF49-E0CDED66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F82F-9D93-CAD2-AB1E-CA161687E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D3F0-B82F-5B9F-D9C3-DCA243F6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C6D5A-218E-362D-1E8A-55E91C078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B2E7D-ED2A-2B0A-FDD8-A151EF50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20129-BEC2-5FD8-B422-3C19A462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2B52D-BA8E-5FD3-3881-6C144C2A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5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A264-324B-2040-2B2A-CDAED999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1F057-E960-B337-C579-5D7EB92F3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56A04-A353-CBEF-F672-B942DE9F9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8388-61F4-07B2-857F-411E4338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C17CB-CA01-0BE9-0F0B-99D1C48E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D416E-C215-AF45-6726-D57666AC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6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51F5-D771-01EF-CAF4-DA51F1973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6C2CE-8F3A-976D-2E10-F864121BA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1BF0B-10A8-E5D3-BE71-6E165E65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B1CE1-4D40-B5B8-CC2C-02808170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4640D-7033-E22F-1738-DBE737DF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9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13E5D-0795-C7D6-EFA9-BE3168059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223A7-7DBC-1F85-F68E-EE9D233FF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ACA47-37BA-3669-DAEF-D0F362A0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F31F0-3307-4A4E-CCAF-F0D27712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F583B-F00D-C84F-BA69-7464F691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7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ECF87-5FAE-1B2B-6EC7-9EB377DC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7804A-8543-1A64-1BE3-2F2697FCF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083D8-9D6E-D7A8-AAA5-A4DCAA773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D5862-4528-F84F-87F9-F5DECE015CC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54BAD-7527-B9FC-4ECB-34BAE85CA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D5DD3-033A-D8C2-B0DD-19529F847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F8377-E969-7745-A8D2-88E7BA57E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4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840A-17F2-4392-A201-DC001877A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Agreement and Adherence of Salivary Sampling Times</a:t>
            </a:r>
            <a:br>
              <a:rPr lang="en-US" dirty="0"/>
            </a:br>
            <a:r>
              <a:rPr lang="en-US" dirty="0"/>
              <a:t>and Diurnal Hormone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CA6C-BD76-9ED6-9D36-D154E64A6B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Eduardo Romo</a:t>
            </a:r>
          </a:p>
          <a:p>
            <a:r>
              <a:rPr lang="en-US" dirty="0"/>
              <a:t>February 4, 2026</a:t>
            </a:r>
          </a:p>
        </p:txBody>
      </p:sp>
    </p:spTree>
    <p:extLst>
      <p:ext uri="{BB962C8B-B14F-4D97-AF65-F5344CB8AC3E}">
        <p14:creationId xmlns:p14="http://schemas.microsoft.com/office/powerpoint/2010/main" val="415844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032A-E36D-869F-C283-45A32ED8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EF4A9-D1A1-B00C-6F95-C37FABC14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Investigators evaluated a novel saliva collection booklet with electronic cap timing to inform future research in endocrine system</a:t>
            </a:r>
          </a:p>
          <a:p>
            <a:r>
              <a:rPr lang="en-US" dirty="0"/>
              <a:t>Three aims</a:t>
            </a:r>
          </a:p>
          <a:p>
            <a:pPr lvl="1"/>
            <a:r>
              <a:rPr lang="en-US" dirty="0"/>
              <a:t>Agreement between booklet vs electronic cap sampling times</a:t>
            </a:r>
          </a:p>
          <a:p>
            <a:pPr lvl="2"/>
            <a:r>
              <a:rPr lang="en-US" dirty="0"/>
              <a:t>Test intercept = 0 and slope =1 in LMM</a:t>
            </a:r>
          </a:p>
          <a:p>
            <a:pPr lvl="1"/>
            <a:r>
              <a:rPr lang="en-US" dirty="0"/>
              <a:t>Adherence to required sampling times (30 min and 10 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Descriptive comparison of % within ±7.5min and ±15min</a:t>
            </a:r>
          </a:p>
          <a:p>
            <a:pPr lvl="1"/>
            <a:r>
              <a:rPr lang="en-US" dirty="0"/>
              <a:t>Diurnal patterns of cortisol and DHEA</a:t>
            </a:r>
          </a:p>
          <a:p>
            <a:pPr lvl="2"/>
            <a:r>
              <a:rPr lang="en-US" dirty="0"/>
              <a:t>LMM with knot at 30 min to quantify hormone fluctuations over time</a:t>
            </a:r>
          </a:p>
        </p:txBody>
      </p:sp>
    </p:spTree>
    <p:extLst>
      <p:ext uri="{BB962C8B-B14F-4D97-AF65-F5344CB8AC3E}">
        <p14:creationId xmlns:p14="http://schemas.microsoft.com/office/powerpoint/2010/main" val="942176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B1F1-2D38-2C1B-89A3-7FC3B144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164EF-1622-B7BE-2D33-0221897A0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31 subjects with 4 samples/day over 3 days</a:t>
            </a:r>
          </a:p>
          <a:p>
            <a:r>
              <a:rPr lang="en-US" dirty="0"/>
              <a:t>Exclusions (Q3 analysis)</a:t>
            </a:r>
          </a:p>
          <a:p>
            <a:pPr lvl="1"/>
            <a:r>
              <a:rPr lang="en-US" dirty="0"/>
              <a:t>Removed subject 3037 (DHEA detection limit)</a:t>
            </a:r>
          </a:p>
          <a:p>
            <a:pPr lvl="1"/>
            <a:r>
              <a:rPr lang="en-US" dirty="0"/>
              <a:t>Removed cortisol &gt;80</a:t>
            </a:r>
          </a:p>
          <a:p>
            <a:pPr lvl="1"/>
            <a:r>
              <a:rPr lang="en-US" dirty="0"/>
              <a:t>Removed DHEA = detection limit</a:t>
            </a:r>
          </a:p>
        </p:txBody>
      </p:sp>
      <p:pic>
        <p:nvPicPr>
          <p:cNvPr id="6" name="Content Placeholder 5" descr="A table with numbers and a few numbers&#10;&#10;AI-generated content may be incorrect.">
            <a:extLst>
              <a:ext uri="{FF2B5EF4-FFF2-40B4-BE49-F238E27FC236}">
                <a16:creationId xmlns:a16="http://schemas.microsoft.com/office/drawing/2014/main" id="{62FCCA52-C966-72AA-39A4-3BA0E261B0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861849"/>
            <a:ext cx="5951398" cy="3134302"/>
          </a:xfrm>
        </p:spPr>
      </p:pic>
    </p:spTree>
    <p:extLst>
      <p:ext uri="{BB962C8B-B14F-4D97-AF65-F5344CB8AC3E}">
        <p14:creationId xmlns:p14="http://schemas.microsoft.com/office/powerpoint/2010/main" val="225154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5461-E075-C378-D320-87B166B0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C14E-073A-6DFF-8CF3-FBA5030C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Q1</a:t>
            </a:r>
          </a:p>
          <a:p>
            <a:pPr lvl="1"/>
            <a:r>
              <a:rPr lang="en-US" dirty="0"/>
              <a:t>Scatterplot of booklet vs MEMs time</a:t>
            </a:r>
          </a:p>
          <a:p>
            <a:pPr lvl="1"/>
            <a:r>
              <a:rPr lang="en-US" dirty="0"/>
              <a:t>Linear mixed model with random intercepts for subjects</a:t>
            </a:r>
          </a:p>
          <a:p>
            <a:pPr lvl="1"/>
            <a:r>
              <a:rPr lang="en-US" dirty="0"/>
              <a:t>Outcome: MEMs interval</a:t>
            </a:r>
          </a:p>
          <a:p>
            <a:pPr lvl="1"/>
            <a:r>
              <a:rPr lang="en-US" dirty="0"/>
              <a:t>Predictor: Booklet interval</a:t>
            </a:r>
          </a:p>
          <a:p>
            <a:pPr lvl="1"/>
            <a:r>
              <a:rPr lang="en-US" dirty="0"/>
              <a:t>Test intercept ≠ 0 (constant bias) and slope ≠ 1 (proportional bias)</a:t>
            </a:r>
          </a:p>
          <a:p>
            <a:r>
              <a:rPr lang="en-US" dirty="0"/>
              <a:t>Q2</a:t>
            </a:r>
          </a:p>
          <a:p>
            <a:pPr lvl="1"/>
            <a:r>
              <a:rPr lang="en-US" dirty="0"/>
              <a:t>Descriptive proportions within ±7.5min and ±15min for MEMs and booklet</a:t>
            </a:r>
          </a:p>
          <a:p>
            <a:r>
              <a:rPr lang="en-US" dirty="0"/>
              <a:t>Q3</a:t>
            </a:r>
          </a:p>
          <a:p>
            <a:pPr lvl="1"/>
            <a:r>
              <a:rPr lang="en-US" dirty="0"/>
              <a:t>Piecewise linear mixed model with knot at 30</a:t>
            </a:r>
          </a:p>
          <a:p>
            <a:pPr lvl="1"/>
            <a:r>
              <a:rPr lang="en-US" dirty="0"/>
              <a:t>Outcome: log(Cortisol) and log(DHEA)</a:t>
            </a:r>
          </a:p>
          <a:p>
            <a:pPr lvl="1"/>
            <a:r>
              <a:rPr lang="en-US" dirty="0"/>
              <a:t>Predictor: booklet time since wake </a:t>
            </a:r>
          </a:p>
        </p:txBody>
      </p:sp>
    </p:spTree>
    <p:extLst>
      <p:ext uri="{BB962C8B-B14F-4D97-AF65-F5344CB8AC3E}">
        <p14:creationId xmlns:p14="http://schemas.microsoft.com/office/powerpoint/2010/main" val="170684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B457-70D0-FEA1-CA78-F2CC5909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(Adherence + Agreement)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5DABF8-7CDE-5A03-1980-8552D6955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2369837"/>
            <a:ext cx="5181600" cy="1405042"/>
          </a:xfrm>
        </p:spPr>
      </p:pic>
      <p:pic>
        <p:nvPicPr>
          <p:cNvPr id="13" name="Picture 1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9909412A-DA80-E0DA-BA00-BA299F0F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685411"/>
            <a:ext cx="5275118" cy="947340"/>
          </a:xfrm>
          <a:prstGeom prst="rect">
            <a:avLst/>
          </a:prstGeom>
        </p:spPr>
      </p:pic>
      <p:pic>
        <p:nvPicPr>
          <p:cNvPr id="17" name="Content Placeholder 16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173FF996-C845-8D96-3309-FC3FD9D4A4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838200" y="2158808"/>
            <a:ext cx="5181600" cy="3684972"/>
          </a:xfrm>
        </p:spPr>
      </p:pic>
    </p:spTree>
    <p:extLst>
      <p:ext uri="{BB962C8B-B14F-4D97-AF65-F5344CB8AC3E}">
        <p14:creationId xmlns:p14="http://schemas.microsoft.com/office/powerpoint/2010/main" val="1659061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E6D9-A718-2201-D113-F2CA6B33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(Diurnal Pattern)</a:t>
            </a:r>
          </a:p>
        </p:txBody>
      </p:sp>
      <p:pic>
        <p:nvPicPr>
          <p:cNvPr id="8" name="Content Placeholder 7" descr="A comparison of a graph&#10;&#10;AI-generated content may be incorrect.">
            <a:extLst>
              <a:ext uri="{FF2B5EF4-FFF2-40B4-BE49-F238E27FC236}">
                <a16:creationId xmlns:a16="http://schemas.microsoft.com/office/drawing/2014/main" id="{5EFB4D35-ADCA-7A82-C5BC-8652D62946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29480"/>
            <a:ext cx="5181600" cy="3543628"/>
          </a:xfrm>
        </p:spPr>
      </p:pic>
      <p:pic>
        <p:nvPicPr>
          <p:cNvPr id="6" name="Content Placeholder 5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9E36645E-A714-3DD5-EEA2-66A99CF4E8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3485847"/>
            <a:ext cx="5181600" cy="1030894"/>
          </a:xfrm>
        </p:spPr>
      </p:pic>
    </p:spTree>
    <p:extLst>
      <p:ext uri="{BB962C8B-B14F-4D97-AF65-F5344CB8AC3E}">
        <p14:creationId xmlns:p14="http://schemas.microsoft.com/office/powerpoint/2010/main" val="149137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77A4-8EC2-D4FD-AEBD-4B186D455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92F3C-05B1-8E2E-4B33-E18359287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agreement between sampling methods</a:t>
            </a:r>
          </a:p>
          <a:p>
            <a:r>
              <a:rPr lang="en-US" dirty="0"/>
              <a:t>Booklet times more complete + more adherent</a:t>
            </a:r>
          </a:p>
          <a:p>
            <a:r>
              <a:rPr lang="en-US" dirty="0"/>
              <a:t>Hormone patterns consistent with expected biology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Small sample size</a:t>
            </a:r>
          </a:p>
          <a:p>
            <a:pPr lvl="1"/>
            <a:r>
              <a:rPr lang="en-US" dirty="0"/>
              <a:t>Missing MEMs data</a:t>
            </a:r>
          </a:p>
          <a:p>
            <a:pPr lvl="1"/>
            <a:r>
              <a:rPr lang="en-US" dirty="0"/>
              <a:t>Only healthy subjects</a:t>
            </a:r>
          </a:p>
        </p:txBody>
      </p:sp>
    </p:spTree>
    <p:extLst>
      <p:ext uri="{BB962C8B-B14F-4D97-AF65-F5344CB8AC3E}">
        <p14:creationId xmlns:p14="http://schemas.microsoft.com/office/powerpoint/2010/main" val="161624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254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Agreement and Adherence of Salivary Sampling Times and Diurnal Hormone Patterns</vt:lpstr>
      <vt:lpstr>Research Question  </vt:lpstr>
      <vt:lpstr>Date Overview</vt:lpstr>
      <vt:lpstr>Analysis</vt:lpstr>
      <vt:lpstr>Results (Adherence + Agreement)</vt:lpstr>
      <vt:lpstr>Results (Diurnal Pattern)</vt:lpstr>
      <vt:lpstr>Discussion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Romo, Eduardo</dc:creator>
  <cp:lastModifiedBy>Romo, Eduardo</cp:lastModifiedBy>
  <cp:revision>1</cp:revision>
  <dcterms:created xsi:type="dcterms:W3CDTF">2026-02-04T01:00:20Z</dcterms:created>
  <dcterms:modified xsi:type="dcterms:W3CDTF">2026-02-04T01:39:55Z</dcterms:modified>
</cp:coreProperties>
</file>